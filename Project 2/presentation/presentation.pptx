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 will be presenting my implementation of Area- and Topology-Preserving Polygon Simplification for CSD2183 Data Structures. This project is based on the APSC algorithm from Kronenfeld and colleagues, published in 2020. The goal is to simplify polygon boundaries, reducing the number of vertices, while exactly preserving the area of each ring and maintaining valid topology throughout. Let me walk you through the problem, the algorithm, the data structures I used, and the experimental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problem? Cartographic polygons, like country borders or lake shorelines, often contain thousands of vertices. For efficient display and storage, we need to reduce that vertex count. But we cannot just throw vertices away randomly. We have three strict constraints. First, we must preserve the area of each ring exactly. Second, we must maintain valid topology: no self-intersections and no crossings between different rings. Third, we want to minimize the areal displacement, meaning the simplified shape should look as close to the original as possible. The APSC algorithm from Kronenfeld et al. achieves all three of these simultaneously using a greedy collapse approach, which I will explain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APSC algorithm works at a high level. For every four consecutive vertices A, B, C, D in a ring, we consider collapsing the middle two vertices B and C into a single replacement vertex E. The key insight is the area-preserving constraint. There exists a line E-star, parallel to the segment AD, such that any point E placed on this line will exactly preserve the ring's signed area. This is because the signed area contributed by the path A-B-C-D equals the area contributed by A-E-D when E lies on E-star. Among all points on E-star, we pick the one that minimizes areal displacement. Specifically, we compute the intersection of E-star with line AB and with line CD, and choose whichever gives less displacement. The collapse operation then removes B and C from the linked list and inserts E between A and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uses a greedy strategy. First, we compute the displacement cost for every possible 4-tuple collapse across all rings and push them all into a min-heap priority queue. Then we enter the main loop. We pop the candidate with the lowest displacement cost. But this candidate might be stale, meaning one of its vertices was already removed by a previous collapse. Rather than doing expensive decrease-key operations on the heap, we use lazy deletion: we just check if the candidate is still valid when we pop it. If the vertices B and C still exist and the adjacency A to B to C to D still holds, we proceed. Otherwise, we discard it and pop the next one. Before performing the collapse, we also check that it would not cause any topological violation, which I will discuss in a later slide. If everything checks out, we perform the collapse and enqueue approximately four new candidates covering the updated neighborhood around the new vertex E. We repeat until we reach the target vertex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key data structure is the doubly-linked circular list. Each ring of the polygon, whether it is the exterior boundary or a hole, is stored as its own circular doubly-linked list of Vertex nodes. This gives us O(1) removal and insertion, which is critical because every collapse removes two vertices and inserts one. An important design decision is the tombstone pattern. When we remove a vertex during a collapse, we do not immediately free its memory. Instead, we set a removed flag to true. This is necessary because there may still be stale candidates in the priority queue that reference this vertex. When we pop those candidates later, we check the removed flag and discard them. The actual memory is freed in a batch flush after simplification completes.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data structure is the min-heap priority queue. We use the standard library priority queue with a greater comparator to get a min-heap, so the candidate with the lowest areal displacement is always on top. Each candidate stores the displacement cost, the computed position of the replacement vertex E, the ring ID, and pointers to the four vertices A, B, C, and D. An important detail is deterministic tie-breaking. When two candidates have the same displacement cost within floating-point tolerance, we break ties by ring ID, then by vertex IDs, and finally by pointer address. This ensures that the output is identical across runs. As I mentioned earlier, we use lazy deletion rather than a decrease-key operation. When a collapse changes the neighborhood, we just push new candidates. The old ones remain in the heap and are discarded when popped if their vertices are no longer valid. This keeps each heap operation at O(log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and most impactful data structure is the spatial grid index. This is what takes us from a naive O(n) per-query intersection check to O(square root of n). The idea is simple: we divide the polygon's bounding box into a grid of square root n by square root n cells. Each polygon edge is registered in every cell it overlaps. When we need to check if a proposed collapse causes an intersection, instead of scanning every edge in the polygon, we only check edges in the cells that the new segments A-E and E-D pass through. On average, this means we only check O(square root n) edges per query instead of O(n). The grid is maintained incrementally. After each collapse, we remove the old edges from their cells and insert the new edges. This gives us an overall time complexity of O(n times square root n) for the entire simplification, since we perform O(n) collapses each costing O(square root n). This is crucial for scaling to large polygons with tens of thousands of vertices.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Topology preservation is critical. Before every collapse, we perform two types of checks. The same-ring check verifies that the new edges A-to-E and E-to-D do not intersect any other edge in the same ring. This prevents self-intersection. The cross-ring check verifies that the new edges do not cross edges of any other ring, which prevents boundary violations between the exterior and holes. The implementation uses robust orientation predicates computed with long double precision to handle near-degenerate cases where vertices are almost collinear. We also have special handling for collinear overlap, where two segments lie on the same line and partially overlap. Both types of intersection queries are accelerated by the spatial grid. If any intersection is detected, we simply skip that candidate and move on to the next one in the heap. The algorithm never produces an invalid topology.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experimental results. This plot shows wall-clock time versus input size for synthetic polygons ranging from 50 to 12,800 vertices, all simplified to 50 percent of their original count. The best-fitting model is O(n times square root n) with an R-squared of 0.9989, which is an excellent fit. This matches our theoretical analysis exactly: we perform O(n) collapse steps, and each step requires an O(square root n) spatial grid intersection query. The O(n log n) model also fits well with R-squared 0.991, which makes sense because the heap operations contribute an n log n term, but at this scale the square root n factor from the spatial queries dominates. In absolute terms, simplifying 12,800 vertices takes only 21 milliseconds, which is very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memory usage, the peak resident set size grows from about 3.5 megabytes at 50 vertices to 7.8 megabytes at 12,800 vertices. That is only a 2.2 times increase for a 256 times increase in input size, which is very close to the theoretical O(n) bound. The 3.5 megabyte baseline is the fixed cost of the C++ runtime and the executable image itself. The actual data structures, the linked lists, the priority queue, and the spatial grid, contribute relatively modest memory overhead. At the largest tested input, 12,800 vertices, the program uses under 8 megabytes, meaning this implementation is practical on essentially any modern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plot shows how areal displacement increases as we remove more vertices from a fixed polygon with 1,600 vertices. There are three distinct regimes. First, the near-lossless regime: when removing less than 30 percent of vertices, the displacement stays very low because the greedy algorithm correctly collapses the cheapest candidates first. Second, there is a knee in the curve around 40 percent of the original count, where the cost per collapse step rises sharply as cheap candidates are exhausted. Third, in the aggressive regime, removing 90 percent of vertices results in 271 times more displacement than removing only 10 percent. Importantly, the signed area is preserved exactly in every single test case, confirming that the area-preserving constraint works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ran several stress tests to validate robustness. First, polygons with many holes, up to 20 interior rings. The runtime grows sub-linearly with the number of holes. A 20-hole polygon is only 3.4 times slower than a single-hole polygon, even though it has 2.4 times more vertices. The spatial grid keeps cross-ring queries efficient. Second, narrow-gap polygons where the exterior and hole are separated by as little as 0.1 world units. The runtime is essentially constant regardless of gap width, confirming that the spatial grid's performance does not degrade with geometric proximity. Third, near-degenerate shapes including comb patterns, zigzag bands, and elongated ellipses with a 50-to-1 aspect ratio. All produced valid simplified polygons with area error below one times ten to the negative ninth.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 implemented the APSC algorithm with three key data structures. A doubly-linked circular list for O(1) vertex manipulation, a min-heap priority queue with lazy deletion for greedy candidate selection, and a uniform spatial grid index for O(square root n) intersection queries. Together, these achieve O(n square root n) overall time complexity. The algorithm exactly preserves ring areas by construction, and topology is maintained through robust intersection checks using long double precision. All 15 reference test cases pass correctly. In practical terms, simplifying a polygon with 12,800 vertices takes only 21 milliseconds and 7.8 megabytes of memory. The implementation handles stress cases well, including polygons with many holes, narrow gaps, and near-degenerate geometries. Thank you for watching.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1097280"/>
            <a:ext cx="7680960" cy="2011680"/>
          </a:xfrm>
          <a:prstGeom prst="rect">
            <a:avLst/>
          </a:prstGeom>
          <a:noFill/>
          <a:ln/>
        </p:spPr>
        <p:txBody>
          <a:bodyPr wrap="square" rtlCol="0" anchor="ctr"/>
          <a:lstStyle/>
          <a:p>
            <a:pPr algn="l" indent="0" marL="0">
              <a:lnSpc>
                <a:spcPct val="110000"/>
              </a:lnSpc>
              <a:buNone/>
            </a:pPr>
            <a:r>
              <a:rPr lang="en-US" sz="3800" b="1" dirty="0">
                <a:solidFill>
                  <a:srgbClr val="FFFFFF"/>
                </a:solidFill>
                <a:latin typeface="Calibri" pitchFamily="34" charset="0"/>
                <a:ea typeface="Calibri" pitchFamily="34" charset="-122"/>
                <a:cs typeface="Calibri" pitchFamily="34" charset="-120"/>
              </a:rPr>
              <a:t>Area- and Topology-Preserving</a:t>
            </a:r>
            <a:endParaRPr lang="en-US" sz="3800" dirty="0"/>
          </a:p>
          <a:p>
            <a:pPr algn="l" indent="0" marL="0">
              <a:lnSpc>
                <a:spcPct val="110000"/>
              </a:lnSpc>
              <a:buNone/>
            </a:pPr>
            <a:r>
              <a:rPr lang="en-US" sz="3800" b="1" dirty="0">
                <a:solidFill>
                  <a:srgbClr val="FFFFFF"/>
                </a:solidFill>
                <a:latin typeface="Calibri" pitchFamily="34" charset="0"/>
                <a:ea typeface="Calibri" pitchFamily="34" charset="-122"/>
                <a:cs typeface="Calibri" pitchFamily="34" charset="-120"/>
              </a:rPr>
              <a:t>Polygon Simplification</a:t>
            </a:r>
            <a:endParaRPr lang="en-US" sz="3800" dirty="0"/>
          </a:p>
        </p:txBody>
      </p:sp>
      <p:sp>
        <p:nvSpPr>
          <p:cNvPr id="4" name="Text 2"/>
          <p:cNvSpPr/>
          <p:nvPr/>
        </p:nvSpPr>
        <p:spPr>
          <a:xfrm>
            <a:off x="731520" y="3200400"/>
            <a:ext cx="7680960" cy="457200"/>
          </a:xfrm>
          <a:prstGeom prst="rect">
            <a:avLst/>
          </a:prstGeom>
          <a:noFill/>
          <a:ln/>
        </p:spPr>
        <p:txBody>
          <a:bodyPr wrap="square" rtlCol="0" anchor="ctr"/>
          <a:lstStyle/>
          <a:p>
            <a:pPr algn="l" indent="0" marL="0">
              <a:buNone/>
            </a:pPr>
            <a:r>
              <a:rPr lang="en-US" sz="1600" dirty="0">
                <a:solidFill>
                  <a:srgbClr val="CADCFC"/>
                </a:solidFill>
                <a:latin typeface="Calibri" pitchFamily="34" charset="0"/>
                <a:ea typeface="Calibri" pitchFamily="34" charset="-122"/>
                <a:cs typeface="Calibri" pitchFamily="34" charset="-120"/>
              </a:rPr>
              <a:t>CSD2183 Data Structures  |  DigiPen Institute of Technology</a:t>
            </a:r>
            <a:endParaRPr lang="en-US" sz="1600" dirty="0"/>
          </a:p>
        </p:txBody>
      </p:sp>
      <p:sp>
        <p:nvSpPr>
          <p:cNvPr id="5" name="Text 3"/>
          <p:cNvSpPr/>
          <p:nvPr/>
        </p:nvSpPr>
        <p:spPr>
          <a:xfrm>
            <a:off x="731520" y="3749040"/>
            <a:ext cx="7680960" cy="365760"/>
          </a:xfrm>
          <a:prstGeom prst="rect">
            <a:avLst/>
          </a:prstGeom>
          <a:noFill/>
          <a:ln/>
        </p:spPr>
        <p:txBody>
          <a:bodyPr wrap="square"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Based on Kronenfeld et al. (2020)</a:t>
            </a:r>
            <a:endParaRPr lang="en-US" sz="1300" dirty="0"/>
          </a:p>
        </p:txBody>
      </p:sp>
      <p:sp>
        <p:nvSpPr>
          <p:cNvPr id="6" name="Shape 4"/>
          <p:cNvSpPr/>
          <p:nvPr/>
        </p:nvSpPr>
        <p:spPr>
          <a:xfrm>
            <a:off x="0" y="5088636"/>
            <a:ext cx="9144000" cy="54864"/>
          </a:xfrm>
          <a:prstGeom prst="rect">
            <a:avLst/>
          </a:prstGeom>
          <a:solidFill>
            <a:srgbClr val="3B82F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The Problem</a:t>
            </a:r>
            <a:endParaRPr lang="en-US" sz="3200" dirty="0"/>
          </a:p>
        </p:txBody>
      </p:sp>
      <p:sp>
        <p:nvSpPr>
          <p:cNvPr id="3" name="Shape 1"/>
          <p:cNvSpPr/>
          <p:nvPr/>
        </p:nvSpPr>
        <p:spPr>
          <a:xfrm>
            <a:off x="731520" y="960120"/>
            <a:ext cx="1097280" cy="45720"/>
          </a:xfrm>
          <a:prstGeom prst="rect">
            <a:avLst/>
          </a:prstGeom>
          <a:solidFill>
            <a:srgbClr val="3B82F6"/>
          </a:solidFill>
          <a:ln/>
        </p:spPr>
      </p:sp>
      <p:sp>
        <p:nvSpPr>
          <p:cNvPr id="4" name="Shape 2"/>
          <p:cNvSpPr/>
          <p:nvPr/>
        </p:nvSpPr>
        <p:spPr>
          <a:xfrm>
            <a:off x="548640" y="1280160"/>
            <a:ext cx="4572000" cy="3291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822960" y="1463040"/>
            <a:ext cx="4023360" cy="2926080"/>
          </a:xfrm>
          <a:prstGeom prst="rect">
            <a:avLst/>
          </a:prstGeom>
          <a:noFill/>
          <a:ln/>
        </p:spPr>
        <p:txBody>
          <a:bodyPr wrap="square" rtlCol="0" anchor="t"/>
          <a:lstStyle/>
          <a:p>
            <a:pPr indent="0" marL="0">
              <a:buNone/>
            </a:pPr>
            <a:r>
              <a:rPr lang="en-US" sz="1400" dirty="0">
                <a:solidFill>
                  <a:srgbClr val="1E293B"/>
                </a:solidFill>
              </a:rPr>
              <a:t>Cartographic polygons contain thousands of vertices,</a:t>
            </a:r>
            <a:endParaRPr lang="en-US" sz="1400" dirty="0"/>
          </a:p>
          <a:p>
            <a:pPr indent="0" marL="0">
              <a:buNone/>
            </a:pPr>
            <a:r>
              <a:rPr lang="en-US" sz="1400" dirty="0">
                <a:solidFill>
                  <a:srgbClr val="1E293B"/>
                </a:solidFill>
              </a:rPr>
              <a:t>far more than needed for display or storage.</a:t>
            </a:r>
            <a:endParaRPr lang="en-US" sz="1400" dirty="0"/>
          </a:p>
          <a:p>
            <a:pPr indent="0" marL="0">
              <a:buNone/>
            </a:pPr>
            <a:endParaRPr lang="en-US" sz="1400" dirty="0"/>
          </a:p>
          <a:p>
            <a:pPr indent="0" marL="0">
              <a:buNone/>
            </a:pPr>
            <a:r>
              <a:rPr lang="en-US" sz="1400" b="1" dirty="0">
                <a:solidFill>
                  <a:srgbClr val="1E293B"/>
                </a:solidFill>
              </a:rPr>
              <a:t>Goal: reduce vertex count while satisfying:</a:t>
            </a:r>
            <a:endParaRPr lang="en-US" sz="1400" dirty="0"/>
          </a:p>
          <a:p>
            <a:pPr indent="0" marL="0">
              <a:buNone/>
            </a:pPr>
            <a:endParaRPr lang="en-US" sz="1400" dirty="0"/>
          </a:p>
          <a:p>
            <a:pPr marL="342900" indent="-342900">
              <a:buSzPct val="100000"/>
              <a:buChar char="•"/>
            </a:pPr>
            <a:r>
              <a:rPr lang="en-US" sz="1300" dirty="0">
                <a:solidFill>
                  <a:srgbClr val="1E293B"/>
                </a:solidFill>
              </a:rPr>
              <a:t>Exact area preservation</a:t>
            </a:r>
            <a:endParaRPr lang="en-US" sz="1400" dirty="0"/>
          </a:p>
          <a:p>
            <a:pPr marL="342900" indent="-342900">
              <a:buSzPct val="100000"/>
              <a:buChar char="•"/>
            </a:pPr>
            <a:r>
              <a:rPr lang="en-US" sz="1300" dirty="0">
                <a:solidFill>
                  <a:srgbClr val="1E293B"/>
                </a:solidFill>
              </a:rPr>
              <a:t>No self-intersections or ring crossings</a:t>
            </a:r>
            <a:endParaRPr lang="en-US" sz="1400" dirty="0"/>
          </a:p>
          <a:p>
            <a:pPr marL="342900" indent="-342900">
              <a:buSzPct val="100000"/>
              <a:buChar char="•"/>
            </a:pPr>
            <a:r>
              <a:rPr lang="en-US" sz="1300" dirty="0">
                <a:solidFill>
                  <a:srgbClr val="1E293B"/>
                </a:solidFill>
              </a:rPr>
              <a:t>Minimize areal displacement</a:t>
            </a:r>
            <a:endParaRPr lang="en-US" sz="1400" dirty="0"/>
          </a:p>
          <a:p>
            <a:pPr indent="0" marL="0">
              <a:buNone/>
            </a:pPr>
            <a:endParaRPr lang="en-US" sz="1400" dirty="0"/>
          </a:p>
          <a:p>
            <a:pPr indent="0" marL="0">
              <a:buNone/>
            </a:pPr>
            <a:r>
              <a:rPr lang="en-US" sz="1300" i="1" dirty="0">
                <a:solidFill>
                  <a:srgbClr val="64748B"/>
                </a:solidFill>
              </a:rPr>
              <a:t>The APSC algorithm (Kronenfeld et al. 2020) achieves all</a:t>
            </a:r>
            <a:endParaRPr lang="en-US" sz="1400" dirty="0"/>
          </a:p>
          <a:p>
            <a:pPr indent="0" marL="0">
              <a:buNone/>
            </a:pPr>
            <a:r>
              <a:rPr lang="en-US" sz="1300" i="1" dirty="0">
                <a:solidFill>
                  <a:srgbClr val="64748B"/>
                </a:solidFill>
              </a:rPr>
              <a:t>three constraints simultaneously through a greedy</a:t>
            </a:r>
            <a:endParaRPr lang="en-US" sz="1400" dirty="0"/>
          </a:p>
          <a:p>
            <a:pPr indent="0" marL="0">
              <a:buNone/>
            </a:pPr>
            <a:r>
              <a:rPr lang="en-US" sz="1300" i="1" dirty="0">
                <a:solidFill>
                  <a:srgbClr val="64748B"/>
                </a:solidFill>
              </a:rPr>
              <a:t>collapse strategy.</a:t>
            </a:r>
            <a:endParaRPr lang="en-US" sz="1400" dirty="0"/>
          </a:p>
        </p:txBody>
      </p:sp>
      <p:sp>
        <p:nvSpPr>
          <p:cNvPr id="6" name="Shape 4"/>
          <p:cNvSpPr/>
          <p:nvPr/>
        </p:nvSpPr>
        <p:spPr>
          <a:xfrm>
            <a:off x="5486400" y="1280160"/>
            <a:ext cx="3291840" cy="3291840"/>
          </a:xfrm>
          <a:prstGeom prst="rect">
            <a:avLst/>
          </a:prstGeom>
          <a:solidFill>
            <a:srgbClr val="1E2761"/>
          </a:solidFill>
          <a:ln/>
          <a:effectLst>
            <a:outerShdw sx="100000" sy="100000" kx="0" ky="0" algn="bl" rotWithShape="0" blurRad="76200" dist="25400" dir="8100000">
              <a:srgbClr val="000000">
                <a:alpha val="12000"/>
              </a:srgbClr>
            </a:outerShdw>
          </a:effectLst>
        </p:spPr>
      </p:sp>
      <p:sp>
        <p:nvSpPr>
          <p:cNvPr id="7" name="Text 5"/>
          <p:cNvSpPr/>
          <p:nvPr/>
        </p:nvSpPr>
        <p:spPr>
          <a:xfrm>
            <a:off x="5669280" y="1463040"/>
            <a:ext cx="292608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 Constraints</a:t>
            </a:r>
            <a:endParaRPr lang="en-US" sz="1800" dirty="0"/>
          </a:p>
        </p:txBody>
      </p:sp>
      <p:sp>
        <p:nvSpPr>
          <p:cNvPr id="8" name="Shape 6"/>
          <p:cNvSpPr/>
          <p:nvPr/>
        </p:nvSpPr>
        <p:spPr>
          <a:xfrm>
            <a:off x="5852160" y="2057400"/>
            <a:ext cx="411480" cy="411480"/>
          </a:xfrm>
          <a:prstGeom prst="ellipse">
            <a:avLst/>
          </a:prstGeom>
          <a:solidFill>
            <a:srgbClr val="3B82F6"/>
          </a:solidFill>
          <a:ln/>
        </p:spPr>
      </p:sp>
      <p:sp>
        <p:nvSpPr>
          <p:cNvPr id="9" name="Text 7"/>
          <p:cNvSpPr/>
          <p:nvPr/>
        </p:nvSpPr>
        <p:spPr>
          <a:xfrm>
            <a:off x="5852160" y="20574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0" name="Text 8"/>
          <p:cNvSpPr/>
          <p:nvPr/>
        </p:nvSpPr>
        <p:spPr>
          <a:xfrm>
            <a:off x="6400800" y="2011680"/>
            <a:ext cx="2194560" cy="228600"/>
          </a:xfrm>
          <a:prstGeom prst="rect">
            <a:avLst/>
          </a:prstGeom>
          <a:noFill/>
          <a:ln/>
        </p:spPr>
        <p:txBody>
          <a:bodyPr wrap="square" lIns="0" tIns="0" rIns="0" bIns="0" rtlCol="0" anchor="ctr"/>
          <a:lstStyle/>
          <a:p>
            <a:pPr indent="0" marL="0">
              <a:buNone/>
            </a:pPr>
            <a:r>
              <a:rPr lang="en-US" sz="1400" b="1" dirty="0">
                <a:solidFill>
                  <a:srgbClr val="FFFFFF"/>
                </a:solidFill>
              </a:rPr>
              <a:t>Area</a:t>
            </a:r>
            <a:endParaRPr lang="en-US" sz="1400" dirty="0"/>
          </a:p>
        </p:txBody>
      </p:sp>
      <p:sp>
        <p:nvSpPr>
          <p:cNvPr id="11" name="Text 9"/>
          <p:cNvSpPr/>
          <p:nvPr/>
        </p:nvSpPr>
        <p:spPr>
          <a:xfrm>
            <a:off x="6400800" y="2240280"/>
            <a:ext cx="2194560" cy="228600"/>
          </a:xfrm>
          <a:prstGeom prst="rect">
            <a:avLst/>
          </a:prstGeom>
          <a:noFill/>
          <a:ln/>
        </p:spPr>
        <p:txBody>
          <a:bodyPr wrap="square" lIns="0" tIns="0" rIns="0" bIns="0" rtlCol="0" anchor="ctr"/>
          <a:lstStyle/>
          <a:p>
            <a:pPr indent="0" marL="0">
              <a:buNone/>
            </a:pPr>
            <a:r>
              <a:rPr lang="en-US" sz="1100" dirty="0">
                <a:solidFill>
                  <a:srgbClr val="CADCFC"/>
                </a:solidFill>
              </a:rPr>
              <a:t>Preserve ring areas exactly</a:t>
            </a:r>
            <a:endParaRPr lang="en-US" sz="1100" dirty="0"/>
          </a:p>
        </p:txBody>
      </p:sp>
      <p:sp>
        <p:nvSpPr>
          <p:cNvPr id="12" name="Shape 10"/>
          <p:cNvSpPr/>
          <p:nvPr/>
        </p:nvSpPr>
        <p:spPr>
          <a:xfrm>
            <a:off x="5852160" y="2880360"/>
            <a:ext cx="411480" cy="411480"/>
          </a:xfrm>
          <a:prstGeom prst="ellipse">
            <a:avLst/>
          </a:prstGeom>
          <a:solidFill>
            <a:srgbClr val="3B82F6"/>
          </a:solidFill>
          <a:ln/>
        </p:spPr>
      </p:sp>
      <p:sp>
        <p:nvSpPr>
          <p:cNvPr id="13" name="Text 11"/>
          <p:cNvSpPr/>
          <p:nvPr/>
        </p:nvSpPr>
        <p:spPr>
          <a:xfrm>
            <a:off x="5852160" y="28803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4" name="Text 12"/>
          <p:cNvSpPr/>
          <p:nvPr/>
        </p:nvSpPr>
        <p:spPr>
          <a:xfrm>
            <a:off x="6400800" y="2834640"/>
            <a:ext cx="2194560" cy="228600"/>
          </a:xfrm>
          <a:prstGeom prst="rect">
            <a:avLst/>
          </a:prstGeom>
          <a:noFill/>
          <a:ln/>
        </p:spPr>
        <p:txBody>
          <a:bodyPr wrap="square" lIns="0" tIns="0" rIns="0" bIns="0" rtlCol="0" anchor="ctr"/>
          <a:lstStyle/>
          <a:p>
            <a:pPr indent="0" marL="0">
              <a:buNone/>
            </a:pPr>
            <a:r>
              <a:rPr lang="en-US" sz="1400" b="1" dirty="0">
                <a:solidFill>
                  <a:srgbClr val="FFFFFF"/>
                </a:solidFill>
              </a:rPr>
              <a:t>Topology</a:t>
            </a:r>
            <a:endParaRPr lang="en-US" sz="1400" dirty="0"/>
          </a:p>
        </p:txBody>
      </p:sp>
      <p:sp>
        <p:nvSpPr>
          <p:cNvPr id="15" name="Text 13"/>
          <p:cNvSpPr/>
          <p:nvPr/>
        </p:nvSpPr>
        <p:spPr>
          <a:xfrm>
            <a:off x="6400800" y="3063240"/>
            <a:ext cx="2194560" cy="228600"/>
          </a:xfrm>
          <a:prstGeom prst="rect">
            <a:avLst/>
          </a:prstGeom>
          <a:noFill/>
          <a:ln/>
        </p:spPr>
        <p:txBody>
          <a:bodyPr wrap="square" lIns="0" tIns="0" rIns="0" bIns="0" rtlCol="0" anchor="ctr"/>
          <a:lstStyle/>
          <a:p>
            <a:pPr indent="0" marL="0">
              <a:buNone/>
            </a:pPr>
            <a:r>
              <a:rPr lang="en-US" sz="1100" dirty="0">
                <a:solidFill>
                  <a:srgbClr val="CADCFC"/>
                </a:solidFill>
              </a:rPr>
              <a:t>No intersections or crossings</a:t>
            </a:r>
            <a:endParaRPr lang="en-US" sz="1100" dirty="0"/>
          </a:p>
        </p:txBody>
      </p:sp>
      <p:sp>
        <p:nvSpPr>
          <p:cNvPr id="16" name="Shape 14"/>
          <p:cNvSpPr/>
          <p:nvPr/>
        </p:nvSpPr>
        <p:spPr>
          <a:xfrm>
            <a:off x="5852160" y="3703320"/>
            <a:ext cx="411480" cy="411480"/>
          </a:xfrm>
          <a:prstGeom prst="ellipse">
            <a:avLst/>
          </a:prstGeom>
          <a:solidFill>
            <a:srgbClr val="3B82F6"/>
          </a:solidFill>
          <a:ln/>
        </p:spPr>
      </p:sp>
      <p:sp>
        <p:nvSpPr>
          <p:cNvPr id="17" name="Text 15"/>
          <p:cNvSpPr/>
          <p:nvPr/>
        </p:nvSpPr>
        <p:spPr>
          <a:xfrm>
            <a:off x="5852160" y="3703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p:nvPr/>
        </p:nvSpPr>
        <p:spPr>
          <a:xfrm>
            <a:off x="6400800" y="3657600"/>
            <a:ext cx="2194560" cy="228600"/>
          </a:xfrm>
          <a:prstGeom prst="rect">
            <a:avLst/>
          </a:prstGeom>
          <a:noFill/>
          <a:ln/>
        </p:spPr>
        <p:txBody>
          <a:bodyPr wrap="square" lIns="0" tIns="0" rIns="0" bIns="0" rtlCol="0" anchor="ctr"/>
          <a:lstStyle/>
          <a:p>
            <a:pPr indent="0" marL="0">
              <a:buNone/>
            </a:pPr>
            <a:r>
              <a:rPr lang="en-US" sz="1400" b="1" dirty="0">
                <a:solidFill>
                  <a:srgbClr val="FFFFFF"/>
                </a:solidFill>
              </a:rPr>
              <a:t>Quality</a:t>
            </a:r>
            <a:endParaRPr lang="en-US" sz="1400" dirty="0"/>
          </a:p>
        </p:txBody>
      </p:sp>
      <p:sp>
        <p:nvSpPr>
          <p:cNvPr id="19" name="Text 17"/>
          <p:cNvSpPr/>
          <p:nvPr/>
        </p:nvSpPr>
        <p:spPr>
          <a:xfrm>
            <a:off x="6400800" y="3886200"/>
            <a:ext cx="2194560" cy="228600"/>
          </a:xfrm>
          <a:prstGeom prst="rect">
            <a:avLst/>
          </a:prstGeom>
          <a:noFill/>
          <a:ln/>
        </p:spPr>
        <p:txBody>
          <a:bodyPr wrap="square" lIns="0" tIns="0" rIns="0" bIns="0" rtlCol="0" anchor="ctr"/>
          <a:lstStyle/>
          <a:p>
            <a:pPr indent="0" marL="0">
              <a:buNone/>
            </a:pPr>
            <a:r>
              <a:rPr lang="en-US" sz="1100" dirty="0">
                <a:solidFill>
                  <a:srgbClr val="CADCFC"/>
                </a:solidFill>
              </a:rPr>
              <a:t>Minimize areal displacement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APSC Algorithm Overview</a:t>
            </a:r>
            <a:endParaRPr lang="en-US" sz="3200" dirty="0"/>
          </a:p>
        </p:txBody>
      </p:sp>
      <p:sp>
        <p:nvSpPr>
          <p:cNvPr id="3" name="Shape 1"/>
          <p:cNvSpPr/>
          <p:nvPr/>
        </p:nvSpPr>
        <p:spPr>
          <a:xfrm>
            <a:off x="731520" y="960120"/>
            <a:ext cx="1097280" cy="45720"/>
          </a:xfrm>
          <a:prstGeom prst="rect">
            <a:avLst/>
          </a:prstGeom>
          <a:solidFill>
            <a:srgbClr val="3B82F6"/>
          </a:solidFill>
          <a:ln/>
        </p:spPr>
      </p:sp>
      <p:sp>
        <p:nvSpPr>
          <p:cNvPr id="4" name="Shape 2"/>
          <p:cNvSpPr/>
          <p:nvPr/>
        </p:nvSpPr>
        <p:spPr>
          <a:xfrm>
            <a:off x="548640" y="1280160"/>
            <a:ext cx="192024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1188720" y="1417320"/>
            <a:ext cx="457200" cy="457200"/>
          </a:xfrm>
          <a:prstGeom prst="ellipse">
            <a:avLst/>
          </a:prstGeom>
          <a:solidFill>
            <a:srgbClr val="3B82F6"/>
          </a:solidFill>
          <a:ln/>
        </p:spPr>
      </p:sp>
      <p:sp>
        <p:nvSpPr>
          <p:cNvPr id="6" name="Text 4"/>
          <p:cNvSpPr/>
          <p:nvPr/>
        </p:nvSpPr>
        <p:spPr>
          <a:xfrm>
            <a:off x="118872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5"/>
          <p:cNvSpPr/>
          <p:nvPr/>
        </p:nvSpPr>
        <p:spPr>
          <a:xfrm>
            <a:off x="640080" y="1965960"/>
            <a:ext cx="1737360" cy="320040"/>
          </a:xfrm>
          <a:prstGeom prst="rect">
            <a:avLst/>
          </a:prstGeom>
          <a:noFill/>
          <a:ln/>
        </p:spPr>
        <p:txBody>
          <a:bodyPr wrap="square" lIns="0" tIns="0" rIns="0" bIns="0" rtlCol="0" anchor="ctr"/>
          <a:lstStyle/>
          <a:p>
            <a:pPr algn="ctr" indent="0" marL="0">
              <a:buNone/>
            </a:pPr>
            <a:r>
              <a:rPr lang="en-US" sz="1300" b="1" dirty="0">
                <a:solidFill>
                  <a:srgbClr val="1E2761"/>
                </a:solidFill>
              </a:rPr>
              <a:t>Identify 4-tuple</a:t>
            </a:r>
            <a:endParaRPr lang="en-US" sz="1300" dirty="0"/>
          </a:p>
        </p:txBody>
      </p:sp>
      <p:sp>
        <p:nvSpPr>
          <p:cNvPr id="8" name="Text 6"/>
          <p:cNvSpPr/>
          <p:nvPr/>
        </p:nvSpPr>
        <p:spPr>
          <a:xfrm>
            <a:off x="640080" y="2286000"/>
            <a:ext cx="1737360" cy="548640"/>
          </a:xfrm>
          <a:prstGeom prst="rect">
            <a:avLst/>
          </a:prstGeom>
          <a:noFill/>
          <a:ln/>
        </p:spPr>
        <p:txBody>
          <a:bodyPr wrap="square" lIns="0" tIns="0" rIns="0" bIns="0" rtlCol="0" anchor="ctr"/>
          <a:lstStyle/>
          <a:p>
            <a:pPr algn="ctr" indent="0" marL="0">
              <a:buNone/>
            </a:pPr>
            <a:r>
              <a:rPr lang="en-US" sz="1100" dirty="0">
                <a:solidFill>
                  <a:srgbClr val="64748B"/>
                </a:solidFill>
              </a:rPr>
              <a:t>For every consecutive</a:t>
            </a:r>
            <a:endParaRPr lang="en-US" sz="1100" dirty="0"/>
          </a:p>
          <a:p>
            <a:pPr algn="ctr" indent="0" marL="0">
              <a:buNone/>
            </a:pPr>
            <a:r>
              <a:rPr lang="en-US" sz="1100" dirty="0">
                <a:solidFill>
                  <a:srgbClr val="64748B"/>
                </a:solidFill>
              </a:rPr>
              <a:t>A → B → C → D in a ring</a:t>
            </a:r>
            <a:endParaRPr lang="en-US" sz="1100" dirty="0"/>
          </a:p>
        </p:txBody>
      </p:sp>
      <p:sp>
        <p:nvSpPr>
          <p:cNvPr id="9" name="Shape 7"/>
          <p:cNvSpPr/>
          <p:nvPr/>
        </p:nvSpPr>
        <p:spPr>
          <a:xfrm>
            <a:off x="2697480" y="1280160"/>
            <a:ext cx="192024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3337560" y="1417320"/>
            <a:ext cx="457200" cy="457200"/>
          </a:xfrm>
          <a:prstGeom prst="ellipse">
            <a:avLst/>
          </a:prstGeom>
          <a:solidFill>
            <a:srgbClr val="3B82F6"/>
          </a:solidFill>
          <a:ln/>
        </p:spPr>
      </p:sp>
      <p:sp>
        <p:nvSpPr>
          <p:cNvPr id="11" name="Text 9"/>
          <p:cNvSpPr/>
          <p:nvPr/>
        </p:nvSpPr>
        <p:spPr>
          <a:xfrm>
            <a:off x="333756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Text 10"/>
          <p:cNvSpPr/>
          <p:nvPr/>
        </p:nvSpPr>
        <p:spPr>
          <a:xfrm>
            <a:off x="2788920" y="1965960"/>
            <a:ext cx="1737360" cy="320040"/>
          </a:xfrm>
          <a:prstGeom prst="rect">
            <a:avLst/>
          </a:prstGeom>
          <a:noFill/>
          <a:ln/>
        </p:spPr>
        <p:txBody>
          <a:bodyPr wrap="square" lIns="0" tIns="0" rIns="0" bIns="0" rtlCol="0" anchor="ctr"/>
          <a:lstStyle/>
          <a:p>
            <a:pPr algn="ctr" indent="0" marL="0">
              <a:buNone/>
            </a:pPr>
            <a:r>
              <a:rPr lang="en-US" sz="1300" b="1" dirty="0">
                <a:solidFill>
                  <a:srgbClr val="1E2761"/>
                </a:solidFill>
              </a:rPr>
              <a:t>Compute E*</a:t>
            </a:r>
            <a:endParaRPr lang="en-US" sz="1300" dirty="0"/>
          </a:p>
        </p:txBody>
      </p:sp>
      <p:sp>
        <p:nvSpPr>
          <p:cNvPr id="13" name="Text 11"/>
          <p:cNvSpPr/>
          <p:nvPr/>
        </p:nvSpPr>
        <p:spPr>
          <a:xfrm>
            <a:off x="2788920" y="2286000"/>
            <a:ext cx="1737360" cy="548640"/>
          </a:xfrm>
          <a:prstGeom prst="rect">
            <a:avLst/>
          </a:prstGeom>
          <a:noFill/>
          <a:ln/>
        </p:spPr>
        <p:txBody>
          <a:bodyPr wrap="square" lIns="0" tIns="0" rIns="0" bIns="0" rtlCol="0" anchor="ctr"/>
          <a:lstStyle/>
          <a:p>
            <a:pPr algn="ctr" indent="0" marL="0">
              <a:buNone/>
            </a:pPr>
            <a:r>
              <a:rPr lang="en-US" sz="1100" dirty="0">
                <a:solidFill>
                  <a:srgbClr val="64748B"/>
                </a:solidFill>
              </a:rPr>
              <a:t>Area-preserving line</a:t>
            </a:r>
            <a:endParaRPr lang="en-US" sz="1100" dirty="0"/>
          </a:p>
          <a:p>
            <a:pPr algn="ctr" indent="0" marL="0">
              <a:buNone/>
            </a:pPr>
            <a:r>
              <a:rPr lang="en-US" sz="1100" dirty="0">
                <a:solidFill>
                  <a:srgbClr val="64748B"/>
                </a:solidFill>
              </a:rPr>
              <a:t>parallel to AD</a:t>
            </a:r>
            <a:endParaRPr lang="en-US" sz="1100" dirty="0"/>
          </a:p>
        </p:txBody>
      </p:sp>
      <p:sp>
        <p:nvSpPr>
          <p:cNvPr id="14" name="Shape 12"/>
          <p:cNvSpPr/>
          <p:nvPr/>
        </p:nvSpPr>
        <p:spPr>
          <a:xfrm>
            <a:off x="4846320" y="1280160"/>
            <a:ext cx="192024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5486400" y="1417320"/>
            <a:ext cx="457200" cy="457200"/>
          </a:xfrm>
          <a:prstGeom prst="ellipse">
            <a:avLst/>
          </a:prstGeom>
          <a:solidFill>
            <a:srgbClr val="3B82F6"/>
          </a:solidFill>
          <a:ln/>
        </p:spPr>
      </p:sp>
      <p:sp>
        <p:nvSpPr>
          <p:cNvPr id="16" name="Text 14"/>
          <p:cNvSpPr/>
          <p:nvPr/>
        </p:nvSpPr>
        <p:spPr>
          <a:xfrm>
            <a:off x="548640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7" name="Text 15"/>
          <p:cNvSpPr/>
          <p:nvPr/>
        </p:nvSpPr>
        <p:spPr>
          <a:xfrm>
            <a:off x="4937760" y="1965960"/>
            <a:ext cx="1737360" cy="320040"/>
          </a:xfrm>
          <a:prstGeom prst="rect">
            <a:avLst/>
          </a:prstGeom>
          <a:noFill/>
          <a:ln/>
        </p:spPr>
        <p:txBody>
          <a:bodyPr wrap="square" lIns="0" tIns="0" rIns="0" bIns="0" rtlCol="0" anchor="ctr"/>
          <a:lstStyle/>
          <a:p>
            <a:pPr algn="ctr" indent="0" marL="0">
              <a:buNone/>
            </a:pPr>
            <a:r>
              <a:rPr lang="en-US" sz="1300" b="1" dirty="0">
                <a:solidFill>
                  <a:srgbClr val="1E2761"/>
                </a:solidFill>
              </a:rPr>
              <a:t>Place E</a:t>
            </a:r>
            <a:endParaRPr lang="en-US" sz="1300" dirty="0"/>
          </a:p>
        </p:txBody>
      </p:sp>
      <p:sp>
        <p:nvSpPr>
          <p:cNvPr id="18" name="Text 16"/>
          <p:cNvSpPr/>
          <p:nvPr/>
        </p:nvSpPr>
        <p:spPr>
          <a:xfrm>
            <a:off x="4937760" y="2286000"/>
            <a:ext cx="1737360" cy="548640"/>
          </a:xfrm>
          <a:prstGeom prst="rect">
            <a:avLst/>
          </a:prstGeom>
          <a:noFill/>
          <a:ln/>
        </p:spPr>
        <p:txBody>
          <a:bodyPr wrap="square" lIns="0" tIns="0" rIns="0" bIns="0" rtlCol="0" anchor="ctr"/>
          <a:lstStyle/>
          <a:p>
            <a:pPr algn="ctr" indent="0" marL="0">
              <a:buNone/>
            </a:pPr>
            <a:r>
              <a:rPr lang="en-US" sz="1100" dirty="0">
                <a:solidFill>
                  <a:srgbClr val="64748B"/>
                </a:solidFill>
              </a:rPr>
              <a:t>Intersection of E* with</a:t>
            </a:r>
            <a:endParaRPr lang="en-US" sz="1100" dirty="0"/>
          </a:p>
          <a:p>
            <a:pPr algn="ctr" indent="0" marL="0">
              <a:buNone/>
            </a:pPr>
            <a:r>
              <a:rPr lang="en-US" sz="1100" dirty="0">
                <a:solidFill>
                  <a:srgbClr val="64748B"/>
                </a:solidFill>
              </a:rPr>
              <a:t>AB or CD (min displacement)</a:t>
            </a:r>
            <a:endParaRPr lang="en-US" sz="1100" dirty="0"/>
          </a:p>
        </p:txBody>
      </p:sp>
      <p:sp>
        <p:nvSpPr>
          <p:cNvPr id="19" name="Shape 17"/>
          <p:cNvSpPr/>
          <p:nvPr/>
        </p:nvSpPr>
        <p:spPr>
          <a:xfrm>
            <a:off x="6995160" y="1280160"/>
            <a:ext cx="192024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7635240" y="1417320"/>
            <a:ext cx="457200" cy="457200"/>
          </a:xfrm>
          <a:prstGeom prst="ellipse">
            <a:avLst/>
          </a:prstGeom>
          <a:solidFill>
            <a:srgbClr val="3B82F6"/>
          </a:solidFill>
          <a:ln/>
        </p:spPr>
      </p:sp>
      <p:sp>
        <p:nvSpPr>
          <p:cNvPr id="21" name="Text 19"/>
          <p:cNvSpPr/>
          <p:nvPr/>
        </p:nvSpPr>
        <p:spPr>
          <a:xfrm>
            <a:off x="763524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2" name="Text 20"/>
          <p:cNvSpPr/>
          <p:nvPr/>
        </p:nvSpPr>
        <p:spPr>
          <a:xfrm>
            <a:off x="7086600" y="1965960"/>
            <a:ext cx="1737360" cy="320040"/>
          </a:xfrm>
          <a:prstGeom prst="rect">
            <a:avLst/>
          </a:prstGeom>
          <a:noFill/>
          <a:ln/>
        </p:spPr>
        <p:txBody>
          <a:bodyPr wrap="square" lIns="0" tIns="0" rIns="0" bIns="0" rtlCol="0" anchor="ctr"/>
          <a:lstStyle/>
          <a:p>
            <a:pPr algn="ctr" indent="0" marL="0">
              <a:buNone/>
            </a:pPr>
            <a:r>
              <a:rPr lang="en-US" sz="1300" b="1" dirty="0">
                <a:solidFill>
                  <a:srgbClr val="1E2761"/>
                </a:solidFill>
              </a:rPr>
              <a:t>Collapse</a:t>
            </a:r>
            <a:endParaRPr lang="en-US" sz="1300" dirty="0"/>
          </a:p>
        </p:txBody>
      </p:sp>
      <p:sp>
        <p:nvSpPr>
          <p:cNvPr id="23" name="Text 21"/>
          <p:cNvSpPr/>
          <p:nvPr/>
        </p:nvSpPr>
        <p:spPr>
          <a:xfrm>
            <a:off x="7086600" y="2286000"/>
            <a:ext cx="1737360" cy="548640"/>
          </a:xfrm>
          <a:prstGeom prst="rect">
            <a:avLst/>
          </a:prstGeom>
          <a:noFill/>
          <a:ln/>
        </p:spPr>
        <p:txBody>
          <a:bodyPr wrap="square" lIns="0" tIns="0" rIns="0" bIns="0" rtlCol="0" anchor="ctr"/>
          <a:lstStyle/>
          <a:p>
            <a:pPr algn="ctr" indent="0" marL="0">
              <a:buNone/>
            </a:pPr>
            <a:r>
              <a:rPr lang="en-US" sz="1100" dirty="0">
                <a:solidFill>
                  <a:srgbClr val="64748B"/>
                </a:solidFill>
              </a:rPr>
              <a:t>Remove B, C</a:t>
            </a:r>
            <a:endParaRPr lang="en-US" sz="1100" dirty="0"/>
          </a:p>
          <a:p>
            <a:pPr algn="ctr" indent="0" marL="0">
              <a:buNone/>
            </a:pPr>
            <a:r>
              <a:rPr lang="en-US" sz="1100" dirty="0">
                <a:solidFill>
                  <a:srgbClr val="64748B"/>
                </a:solidFill>
              </a:rPr>
              <a:t>Insert E between A and D</a:t>
            </a:r>
            <a:endParaRPr lang="en-US" sz="1100" dirty="0"/>
          </a:p>
        </p:txBody>
      </p:sp>
      <p:sp>
        <p:nvSpPr>
          <p:cNvPr id="24" name="Shape 22"/>
          <p:cNvSpPr/>
          <p:nvPr/>
        </p:nvSpPr>
        <p:spPr>
          <a:xfrm>
            <a:off x="548640" y="320040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Text 23"/>
          <p:cNvSpPr/>
          <p:nvPr/>
        </p:nvSpPr>
        <p:spPr>
          <a:xfrm>
            <a:off x="822960" y="3291840"/>
            <a:ext cx="3657600" cy="320040"/>
          </a:xfrm>
          <a:prstGeom prst="rect">
            <a:avLst/>
          </a:prstGeom>
          <a:noFill/>
          <a:ln/>
        </p:spPr>
        <p:txBody>
          <a:bodyPr wrap="square" lIns="0" tIns="0" rIns="0" bIns="0" rtlCol="0" anchor="ctr"/>
          <a:lstStyle/>
          <a:p>
            <a:pPr indent="0" marL="0">
              <a:buNone/>
            </a:pPr>
            <a:r>
              <a:rPr lang="en-US" sz="1500" b="1" dirty="0">
                <a:solidFill>
                  <a:srgbClr val="1E2761"/>
                </a:solidFill>
              </a:rPr>
              <a:t>Area-Preserving Constraint</a:t>
            </a:r>
            <a:endParaRPr lang="en-US" sz="1500" dirty="0"/>
          </a:p>
        </p:txBody>
      </p:sp>
      <p:sp>
        <p:nvSpPr>
          <p:cNvPr id="26" name="Text 24"/>
          <p:cNvSpPr/>
          <p:nvPr/>
        </p:nvSpPr>
        <p:spPr>
          <a:xfrm>
            <a:off x="822960" y="3611880"/>
            <a:ext cx="7498080" cy="914400"/>
          </a:xfrm>
          <a:prstGeom prst="rect">
            <a:avLst/>
          </a:prstGeom>
          <a:noFill/>
          <a:ln/>
        </p:spPr>
        <p:txBody>
          <a:bodyPr wrap="square" rtlCol="0" anchor="t"/>
          <a:lstStyle/>
          <a:p>
            <a:pPr indent="0" marL="0">
              <a:buNone/>
            </a:pPr>
            <a:r>
              <a:rPr lang="en-US" sz="1300" dirty="0">
                <a:solidFill>
                  <a:srgbClr val="1E293B"/>
                </a:solidFill>
                <a:latin typeface="Consolas" pitchFamily="34" charset="0"/>
                <a:ea typeface="Consolas" pitchFamily="34" charset="-122"/>
                <a:cs typeface="Consolas" pitchFamily="34" charset="-120"/>
              </a:rPr>
              <a:t>The line E* is defined by:  a·xE + b·yE + c = 0</a:t>
            </a:r>
            <a:endParaRPr lang="en-US" sz="1300" dirty="0"/>
          </a:p>
          <a:p>
            <a:pPr indent="0" marL="0">
              <a:buNone/>
            </a:pPr>
            <a:r>
              <a:rPr lang="en-US" sz="1200" dirty="0">
                <a:solidFill>
                  <a:srgbClr val="64748B"/>
                </a:solidFill>
                <a:latin typeface="Consolas" pitchFamily="34" charset="0"/>
                <a:ea typeface="Consolas" pitchFamily="34" charset="-122"/>
                <a:cs typeface="Consolas" pitchFamily="34" charset="-120"/>
              </a:rPr>
              <a:t>where  a = yD - yA,   b = xA - xD,   c = f(A,B,C,D)</a:t>
            </a:r>
            <a:endParaRPr lang="en-US" sz="1300" dirty="0"/>
          </a:p>
          <a:p>
            <a:pPr indent="0" marL="0">
              <a:buNone/>
            </a:pPr>
            <a:endParaRPr lang="en-US" sz="1300" dirty="0"/>
          </a:p>
          <a:p>
            <a:pPr indent="0" marL="0">
              <a:buNone/>
            </a:pPr>
            <a:r>
              <a:rPr lang="en-US" sz="1200" dirty="0">
                <a:solidFill>
                  <a:srgbClr val="1E293B"/>
                </a:solidFill>
              </a:rPr>
              <a:t>Any point E on this line exactly preserves the signed area of the ring. Among all such points, we choose the one that minimizes the symmetric difference area (areal displacement).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Greedy Collapse Strategy</a:t>
            </a:r>
            <a:endParaRPr lang="en-US" sz="3200" dirty="0"/>
          </a:p>
        </p:txBody>
      </p:sp>
      <p:sp>
        <p:nvSpPr>
          <p:cNvPr id="3" name="Shape 1"/>
          <p:cNvSpPr/>
          <p:nvPr/>
        </p:nvSpPr>
        <p:spPr>
          <a:xfrm>
            <a:off x="731520" y="960120"/>
            <a:ext cx="1097280" cy="45720"/>
          </a:xfrm>
          <a:prstGeom prst="rect">
            <a:avLst/>
          </a:prstGeom>
          <a:solidFill>
            <a:srgbClr val="3B82F6"/>
          </a:solidFill>
          <a:ln/>
        </p:spPr>
      </p:sp>
      <p:sp>
        <p:nvSpPr>
          <p:cNvPr id="4" name="Shape 2"/>
          <p:cNvSpPr/>
          <p:nvPr/>
        </p:nvSpPr>
        <p:spPr>
          <a:xfrm>
            <a:off x="320040" y="1280160"/>
            <a:ext cx="1572768"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868680" y="1417320"/>
            <a:ext cx="411480" cy="411480"/>
          </a:xfrm>
          <a:prstGeom prst="ellipse">
            <a:avLst/>
          </a:prstGeom>
          <a:solidFill>
            <a:srgbClr val="3B82F6"/>
          </a:solidFill>
          <a:ln/>
        </p:spPr>
      </p:sp>
      <p:sp>
        <p:nvSpPr>
          <p:cNvPr id="6" name="Text 4"/>
          <p:cNvSpPr/>
          <p:nvPr/>
        </p:nvSpPr>
        <p:spPr>
          <a:xfrm>
            <a:off x="868680" y="1417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p:nvPr/>
        </p:nvSpPr>
        <p:spPr>
          <a:xfrm>
            <a:off x="411480" y="1965960"/>
            <a:ext cx="1389888" cy="1005840"/>
          </a:xfrm>
          <a:prstGeom prst="rect">
            <a:avLst/>
          </a:prstGeom>
          <a:noFill/>
          <a:ln/>
        </p:spPr>
        <p:txBody>
          <a:bodyPr wrap="square" lIns="0" tIns="0" rIns="0" bIns="0" rtlCol="0" anchor="t"/>
          <a:lstStyle/>
          <a:p>
            <a:pPr algn="ctr" indent="0" marL="0">
              <a:buNone/>
            </a:pPr>
            <a:r>
              <a:rPr lang="en-US" sz="1100" dirty="0">
                <a:solidFill>
                  <a:srgbClr val="1E293B"/>
                </a:solidFill>
              </a:rPr>
              <a:t>Compute displacement cost</a:t>
            </a:r>
            <a:endParaRPr lang="en-US" sz="1100" dirty="0"/>
          </a:p>
          <a:p>
            <a:pPr algn="ctr" indent="0" marL="0">
              <a:buNone/>
            </a:pPr>
            <a:r>
              <a:rPr lang="en-US" sz="1100" dirty="0">
                <a:solidFill>
                  <a:srgbClr val="1E293B"/>
                </a:solidFill>
              </a:rPr>
              <a:t>for all 4-tuples across</a:t>
            </a:r>
            <a:endParaRPr lang="en-US" sz="1100" dirty="0"/>
          </a:p>
          <a:p>
            <a:pPr algn="ctr" indent="0" marL="0">
              <a:buNone/>
            </a:pPr>
            <a:r>
              <a:rPr lang="en-US" sz="1100" dirty="0">
                <a:solidFill>
                  <a:srgbClr val="1E293B"/>
                </a:solidFill>
              </a:rPr>
              <a:t>all rings</a:t>
            </a:r>
            <a:endParaRPr lang="en-US" sz="1100" dirty="0"/>
          </a:p>
        </p:txBody>
      </p:sp>
      <p:sp>
        <p:nvSpPr>
          <p:cNvPr id="8" name="Text 6"/>
          <p:cNvSpPr/>
          <p:nvPr/>
        </p:nvSpPr>
        <p:spPr>
          <a:xfrm>
            <a:off x="1892808" y="1920240"/>
            <a:ext cx="164592" cy="45720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9" name="Shape 7"/>
          <p:cNvSpPr/>
          <p:nvPr/>
        </p:nvSpPr>
        <p:spPr>
          <a:xfrm>
            <a:off x="2057400" y="1280160"/>
            <a:ext cx="1572768"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2606040" y="1417320"/>
            <a:ext cx="411480" cy="411480"/>
          </a:xfrm>
          <a:prstGeom prst="ellipse">
            <a:avLst/>
          </a:prstGeom>
          <a:solidFill>
            <a:srgbClr val="3B82F6"/>
          </a:solidFill>
          <a:ln/>
        </p:spPr>
      </p:sp>
      <p:sp>
        <p:nvSpPr>
          <p:cNvPr id="11" name="Text 9"/>
          <p:cNvSpPr/>
          <p:nvPr/>
        </p:nvSpPr>
        <p:spPr>
          <a:xfrm>
            <a:off x="2606040" y="1417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p:nvPr/>
        </p:nvSpPr>
        <p:spPr>
          <a:xfrm>
            <a:off x="2148840" y="1965960"/>
            <a:ext cx="1389888" cy="1005840"/>
          </a:xfrm>
          <a:prstGeom prst="rect">
            <a:avLst/>
          </a:prstGeom>
          <a:noFill/>
          <a:ln/>
        </p:spPr>
        <p:txBody>
          <a:bodyPr wrap="square" lIns="0" tIns="0" rIns="0" bIns="0" rtlCol="0" anchor="t"/>
          <a:lstStyle/>
          <a:p>
            <a:pPr algn="ctr" indent="0" marL="0">
              <a:buNone/>
            </a:pPr>
            <a:r>
              <a:rPr lang="en-US" sz="1100" dirty="0">
                <a:solidFill>
                  <a:srgbClr val="1E293B"/>
                </a:solidFill>
              </a:rPr>
              <a:t>Push all candidates into</a:t>
            </a:r>
            <a:endParaRPr lang="en-US" sz="1100" dirty="0"/>
          </a:p>
          <a:p>
            <a:pPr algn="ctr" indent="0" marL="0">
              <a:buNone/>
            </a:pPr>
            <a:r>
              <a:rPr lang="en-US" sz="1100" dirty="0">
                <a:solidFill>
                  <a:srgbClr val="1E293B"/>
                </a:solidFill>
              </a:rPr>
              <a:t>a min-heap priority queue</a:t>
            </a:r>
            <a:endParaRPr lang="en-US" sz="1100" dirty="0"/>
          </a:p>
          <a:p>
            <a:pPr algn="ctr" indent="0" marL="0">
              <a:buNone/>
            </a:pPr>
            <a:r>
              <a:rPr lang="en-US" sz="1100" dirty="0">
                <a:solidFill>
                  <a:srgbClr val="1E293B"/>
                </a:solidFill>
              </a:rPr>
              <a:t>(lowest cost first)</a:t>
            </a:r>
            <a:endParaRPr lang="en-US" sz="1100" dirty="0"/>
          </a:p>
        </p:txBody>
      </p:sp>
      <p:sp>
        <p:nvSpPr>
          <p:cNvPr id="13" name="Text 11"/>
          <p:cNvSpPr/>
          <p:nvPr/>
        </p:nvSpPr>
        <p:spPr>
          <a:xfrm>
            <a:off x="3630168" y="1920240"/>
            <a:ext cx="164592" cy="45720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14" name="Shape 12"/>
          <p:cNvSpPr/>
          <p:nvPr/>
        </p:nvSpPr>
        <p:spPr>
          <a:xfrm>
            <a:off x="3794760" y="1280160"/>
            <a:ext cx="1572768"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343400" y="1417320"/>
            <a:ext cx="411480" cy="411480"/>
          </a:xfrm>
          <a:prstGeom prst="ellipse">
            <a:avLst/>
          </a:prstGeom>
          <a:solidFill>
            <a:srgbClr val="3B82F6"/>
          </a:solidFill>
          <a:ln/>
        </p:spPr>
      </p:sp>
      <p:sp>
        <p:nvSpPr>
          <p:cNvPr id="16" name="Text 14"/>
          <p:cNvSpPr/>
          <p:nvPr/>
        </p:nvSpPr>
        <p:spPr>
          <a:xfrm>
            <a:off x="4343400" y="1417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p:nvPr/>
        </p:nvSpPr>
        <p:spPr>
          <a:xfrm>
            <a:off x="3886200" y="1965960"/>
            <a:ext cx="1389888" cy="1005840"/>
          </a:xfrm>
          <a:prstGeom prst="rect">
            <a:avLst/>
          </a:prstGeom>
          <a:noFill/>
          <a:ln/>
        </p:spPr>
        <p:txBody>
          <a:bodyPr wrap="square" lIns="0" tIns="0" rIns="0" bIns="0" rtlCol="0" anchor="t"/>
          <a:lstStyle/>
          <a:p>
            <a:pPr algn="ctr" indent="0" marL="0">
              <a:buNone/>
            </a:pPr>
            <a:r>
              <a:rPr lang="en-US" sz="1100" dirty="0">
                <a:solidFill>
                  <a:srgbClr val="1E293B"/>
                </a:solidFill>
              </a:rPr>
              <a:t>Pop minimum candidate.</a:t>
            </a:r>
            <a:endParaRPr lang="en-US" sz="1100" dirty="0"/>
          </a:p>
          <a:p>
            <a:pPr algn="ctr" indent="0" marL="0">
              <a:buNone/>
            </a:pPr>
            <a:r>
              <a:rPr lang="en-US" sz="1100" dirty="0">
                <a:solidFill>
                  <a:srgbClr val="1E293B"/>
                </a:solidFill>
              </a:rPr>
              <a:t>If stale (vertices removed),</a:t>
            </a:r>
            <a:endParaRPr lang="en-US" sz="1100" dirty="0"/>
          </a:p>
          <a:p>
            <a:pPr algn="ctr" indent="0" marL="0">
              <a:buNone/>
            </a:pPr>
            <a:r>
              <a:rPr lang="en-US" sz="1100" dirty="0">
                <a:solidFill>
                  <a:srgbClr val="1E293B"/>
                </a:solidFill>
              </a:rPr>
              <a:t>discard and pop next</a:t>
            </a:r>
            <a:endParaRPr lang="en-US" sz="1100" dirty="0"/>
          </a:p>
        </p:txBody>
      </p:sp>
      <p:sp>
        <p:nvSpPr>
          <p:cNvPr id="18" name="Text 16"/>
          <p:cNvSpPr/>
          <p:nvPr/>
        </p:nvSpPr>
        <p:spPr>
          <a:xfrm>
            <a:off x="5367528" y="1920240"/>
            <a:ext cx="164592" cy="45720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19" name="Shape 17"/>
          <p:cNvSpPr/>
          <p:nvPr/>
        </p:nvSpPr>
        <p:spPr>
          <a:xfrm>
            <a:off x="5532120" y="1280160"/>
            <a:ext cx="1572768"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6080760" y="1417320"/>
            <a:ext cx="411480" cy="411480"/>
          </a:xfrm>
          <a:prstGeom prst="ellipse">
            <a:avLst/>
          </a:prstGeom>
          <a:solidFill>
            <a:srgbClr val="3B82F6"/>
          </a:solidFill>
          <a:ln/>
        </p:spPr>
      </p:sp>
      <p:sp>
        <p:nvSpPr>
          <p:cNvPr id="21" name="Text 19"/>
          <p:cNvSpPr/>
          <p:nvPr/>
        </p:nvSpPr>
        <p:spPr>
          <a:xfrm>
            <a:off x="6080760" y="1417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20"/>
          <p:cNvSpPr/>
          <p:nvPr/>
        </p:nvSpPr>
        <p:spPr>
          <a:xfrm>
            <a:off x="5623560" y="1965960"/>
            <a:ext cx="1389888" cy="1005840"/>
          </a:xfrm>
          <a:prstGeom prst="rect">
            <a:avLst/>
          </a:prstGeom>
          <a:noFill/>
          <a:ln/>
        </p:spPr>
        <p:txBody>
          <a:bodyPr wrap="square" lIns="0" tIns="0" rIns="0" bIns="0" rtlCol="0" anchor="t"/>
          <a:lstStyle/>
          <a:p>
            <a:pPr algn="ctr" indent="0" marL="0">
              <a:buNone/>
            </a:pPr>
            <a:r>
              <a:rPr lang="en-US" sz="1100" dirty="0">
                <a:solidFill>
                  <a:srgbClr val="1E293B"/>
                </a:solidFill>
              </a:rPr>
              <a:t>Check topology: would</a:t>
            </a:r>
            <a:endParaRPr lang="en-US" sz="1100" dirty="0"/>
          </a:p>
          <a:p>
            <a:pPr algn="ctr" indent="0" marL="0">
              <a:buNone/>
            </a:pPr>
            <a:r>
              <a:rPr lang="en-US" sz="1100" dirty="0">
                <a:solidFill>
                  <a:srgbClr val="1E293B"/>
                </a:solidFill>
              </a:rPr>
              <a:t>collapse cause any</a:t>
            </a:r>
            <a:endParaRPr lang="en-US" sz="1100" dirty="0"/>
          </a:p>
          <a:p>
            <a:pPr algn="ctr" indent="0" marL="0">
              <a:buNone/>
            </a:pPr>
            <a:r>
              <a:rPr lang="en-US" sz="1100" dirty="0">
                <a:solidFill>
                  <a:srgbClr val="1E293B"/>
                </a:solidFill>
              </a:rPr>
              <a:t>intersection?</a:t>
            </a:r>
            <a:endParaRPr lang="en-US" sz="1100" dirty="0"/>
          </a:p>
        </p:txBody>
      </p:sp>
      <p:sp>
        <p:nvSpPr>
          <p:cNvPr id="23" name="Text 21"/>
          <p:cNvSpPr/>
          <p:nvPr/>
        </p:nvSpPr>
        <p:spPr>
          <a:xfrm>
            <a:off x="7104888" y="1920240"/>
            <a:ext cx="164592" cy="45720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24" name="Shape 22"/>
          <p:cNvSpPr/>
          <p:nvPr/>
        </p:nvSpPr>
        <p:spPr>
          <a:xfrm>
            <a:off x="7269480" y="1280160"/>
            <a:ext cx="1572768"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3"/>
          <p:cNvSpPr/>
          <p:nvPr/>
        </p:nvSpPr>
        <p:spPr>
          <a:xfrm>
            <a:off x="7818120" y="1417320"/>
            <a:ext cx="411480" cy="411480"/>
          </a:xfrm>
          <a:prstGeom prst="ellipse">
            <a:avLst/>
          </a:prstGeom>
          <a:solidFill>
            <a:srgbClr val="3B82F6"/>
          </a:solidFill>
          <a:ln/>
        </p:spPr>
      </p:sp>
      <p:sp>
        <p:nvSpPr>
          <p:cNvPr id="26" name="Text 24"/>
          <p:cNvSpPr/>
          <p:nvPr/>
        </p:nvSpPr>
        <p:spPr>
          <a:xfrm>
            <a:off x="7818120" y="1417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7" name="Text 25"/>
          <p:cNvSpPr/>
          <p:nvPr/>
        </p:nvSpPr>
        <p:spPr>
          <a:xfrm>
            <a:off x="7360920" y="1965960"/>
            <a:ext cx="1389888" cy="1005840"/>
          </a:xfrm>
          <a:prstGeom prst="rect">
            <a:avLst/>
          </a:prstGeom>
          <a:noFill/>
          <a:ln/>
        </p:spPr>
        <p:txBody>
          <a:bodyPr wrap="square" lIns="0" tIns="0" rIns="0" bIns="0" rtlCol="0" anchor="t"/>
          <a:lstStyle/>
          <a:p>
            <a:pPr algn="ctr" indent="0" marL="0">
              <a:buNone/>
            </a:pPr>
            <a:r>
              <a:rPr lang="en-US" sz="1100" dirty="0">
                <a:solidFill>
                  <a:srgbClr val="1E293B"/>
                </a:solidFill>
              </a:rPr>
              <a:t>If valid, perform collapse.</a:t>
            </a:r>
            <a:endParaRPr lang="en-US" sz="1100" dirty="0"/>
          </a:p>
          <a:p>
            <a:pPr algn="ctr" indent="0" marL="0">
              <a:buNone/>
            </a:pPr>
            <a:r>
              <a:rPr lang="en-US" sz="1100" dirty="0">
                <a:solidFill>
                  <a:srgbClr val="1E293B"/>
                </a:solidFill>
              </a:rPr>
              <a:t>Re-enqueue ~4 new</a:t>
            </a:r>
            <a:endParaRPr lang="en-US" sz="1100" dirty="0"/>
          </a:p>
          <a:p>
            <a:pPr algn="ctr" indent="0" marL="0">
              <a:buNone/>
            </a:pPr>
            <a:r>
              <a:rPr lang="en-US" sz="1100" dirty="0">
                <a:solidFill>
                  <a:srgbClr val="1E293B"/>
                </a:solidFill>
              </a:rPr>
              <a:t>candidates in neighborhood</a:t>
            </a:r>
            <a:endParaRPr lang="en-US" sz="1100" dirty="0"/>
          </a:p>
        </p:txBody>
      </p:sp>
      <p:sp>
        <p:nvSpPr>
          <p:cNvPr id="28" name="Shape 26"/>
          <p:cNvSpPr/>
          <p:nvPr/>
        </p:nvSpPr>
        <p:spPr>
          <a:xfrm>
            <a:off x="548640" y="3383280"/>
            <a:ext cx="8046720" cy="1280160"/>
          </a:xfrm>
          <a:prstGeom prst="rect">
            <a:avLst/>
          </a:prstGeom>
          <a:solidFill>
            <a:srgbClr val="1E2761"/>
          </a:solidFill>
          <a:ln/>
        </p:spPr>
      </p:sp>
      <p:sp>
        <p:nvSpPr>
          <p:cNvPr id="29" name="Text 27"/>
          <p:cNvSpPr/>
          <p:nvPr/>
        </p:nvSpPr>
        <p:spPr>
          <a:xfrm>
            <a:off x="822960" y="3520440"/>
            <a:ext cx="7498080" cy="1005840"/>
          </a:xfrm>
          <a:prstGeom prst="rect">
            <a:avLst/>
          </a:prstGeom>
          <a:noFill/>
          <a:ln/>
        </p:spPr>
        <p:txBody>
          <a:bodyPr wrap="square" rtlCol="0" anchor="t"/>
          <a:lstStyle/>
          <a:p>
            <a:pPr indent="0" marL="0">
              <a:buNone/>
            </a:pPr>
            <a:r>
              <a:rPr lang="en-US" sz="1400" b="1" dirty="0">
                <a:solidFill>
                  <a:srgbClr val="FFFFFF"/>
                </a:solidFill>
              </a:rPr>
              <a:t>Lazy Deletion: </a:t>
            </a:r>
            <a:pPr indent="0" marL="0">
              <a:buNone/>
            </a:pPr>
            <a:r>
              <a:rPr lang="en-US" sz="1300" dirty="0">
                <a:solidFill>
                  <a:srgbClr val="CADCFC"/>
                </a:solidFill>
              </a:rPr>
              <a:t>Instead of removing stale entries from the heap (expensive O(n) scan), we simply check validity when popping. If a candidate's vertices B or C have already been removed, or the adjacency A→B→C→D no longer holds, we discard it and move to the next. This keeps the heap operations at O(log n) per step.</a:t>
            </a:r>
            <a:endParaRPr lang="en-US" sz="1400" dirty="0"/>
          </a:p>
        </p:txBody>
      </p:sp>
      <p:sp>
        <p:nvSpPr>
          <p:cNvPr id="30" name="Text 28"/>
          <p:cNvSpPr/>
          <p:nvPr/>
        </p:nvSpPr>
        <p:spPr>
          <a:xfrm>
            <a:off x="548640" y="4709160"/>
            <a:ext cx="8046720" cy="320040"/>
          </a:xfrm>
          <a:prstGeom prst="rect">
            <a:avLst/>
          </a:prstGeom>
          <a:noFill/>
          <a:ln/>
        </p:spPr>
        <p:txBody>
          <a:bodyPr wrap="square" rtlCol="0" anchor="ctr"/>
          <a:lstStyle/>
          <a:p>
            <a:pPr algn="ctr" indent="0" marL="0">
              <a:buNone/>
            </a:pPr>
            <a:r>
              <a:rPr lang="en-US" sz="1200" i="1" dirty="0">
                <a:solidFill>
                  <a:srgbClr val="64748B"/>
                </a:solidFill>
              </a:rPr>
              <a:t>Repeat steps 3-5 until total vertex count reaches the target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Data Structure 1: Doubly-Linked Circular List</a:t>
            </a:r>
            <a:endParaRPr lang="en-US" sz="2800" dirty="0"/>
          </a:p>
        </p:txBody>
      </p:sp>
      <p:sp>
        <p:nvSpPr>
          <p:cNvPr id="3" name="Shape 1"/>
          <p:cNvSpPr/>
          <p:nvPr/>
        </p:nvSpPr>
        <p:spPr>
          <a:xfrm>
            <a:off x="731520" y="960120"/>
            <a:ext cx="1097280" cy="45720"/>
          </a:xfrm>
          <a:prstGeom prst="rect">
            <a:avLst/>
          </a:prstGeom>
          <a:solidFill>
            <a:srgbClr val="3B82F6"/>
          </a:solidFill>
          <a:ln/>
        </p:spPr>
      </p:sp>
      <p:sp>
        <p:nvSpPr>
          <p:cNvPr id="4" name="Shape 2"/>
          <p:cNvSpPr/>
          <p:nvPr/>
        </p:nvSpPr>
        <p:spPr>
          <a:xfrm>
            <a:off x="548640" y="1188720"/>
            <a:ext cx="4206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822960" y="1371600"/>
            <a:ext cx="3657600" cy="3108960"/>
          </a:xfrm>
          <a:prstGeom prst="rect">
            <a:avLst/>
          </a:prstGeom>
          <a:noFill/>
          <a:ln/>
        </p:spPr>
        <p:txBody>
          <a:bodyPr wrap="square" rtlCol="0" anchor="t"/>
          <a:lstStyle/>
          <a:p>
            <a:pPr indent="0" marL="0">
              <a:buNone/>
            </a:pPr>
            <a:r>
              <a:rPr lang="en-US" sz="1400" dirty="0">
                <a:solidFill>
                  <a:srgbClr val="1E293B"/>
                </a:solidFill>
              </a:rPr>
              <a:t>Each ring is a circular doubly-linked list of Vertex nodes.</a:t>
            </a:r>
            <a:endParaRPr lang="en-US" sz="1400" dirty="0"/>
          </a:p>
          <a:p>
            <a:pPr indent="0" marL="0">
              <a:buNone/>
            </a:pPr>
            <a:endParaRPr lang="en-US" sz="1400" dirty="0"/>
          </a:p>
          <a:p>
            <a:pPr marL="342900" indent="-342900">
              <a:buSzPct val="100000"/>
              <a:buChar char="•"/>
            </a:pPr>
            <a:r>
              <a:rPr lang="en-US" sz="1300" dirty="0">
                <a:solidFill>
                  <a:srgbClr val="1E293B"/>
                </a:solidFill>
              </a:rPr>
              <a:t>O(1) removal and insertion during collapse</a:t>
            </a:r>
            <a:endParaRPr lang="en-US" sz="1400" dirty="0"/>
          </a:p>
          <a:p>
            <a:pPr marL="342900" indent="-342900">
              <a:buSzPct val="100000"/>
              <a:buChar char="•"/>
            </a:pPr>
            <a:r>
              <a:rPr lang="en-US" sz="1300" dirty="0">
                <a:solidFill>
                  <a:srgbClr val="1E293B"/>
                </a:solidFill>
              </a:rPr>
              <a:t>Circular structure: last vertex links back to first</a:t>
            </a:r>
            <a:endParaRPr lang="en-US" sz="1400" dirty="0"/>
          </a:p>
          <a:p>
            <a:pPr marL="342900" indent="-342900">
              <a:buSzPct val="100000"/>
              <a:buChar char="•"/>
            </a:pPr>
            <a:r>
              <a:rPr lang="en-US" sz="1300" dirty="0">
                <a:solidFill>
                  <a:srgbClr val="1E293B"/>
                </a:solidFill>
              </a:rPr>
              <a:t>One list per ring (exterior + each hole)</a:t>
            </a:r>
            <a:endParaRPr lang="en-US" sz="1400" dirty="0"/>
          </a:p>
          <a:p>
            <a:pPr indent="0" marL="0">
              <a:buNone/>
            </a:pPr>
            <a:endParaRPr lang="en-US" sz="1400" dirty="0"/>
          </a:p>
          <a:p>
            <a:pPr indent="0" marL="0">
              <a:buNone/>
            </a:pPr>
            <a:r>
              <a:rPr lang="en-US" sz="1400" b="1" dirty="0">
                <a:solidFill>
                  <a:srgbClr val="1E2761"/>
                </a:solidFill>
              </a:rPr>
              <a:t>Tombstone Pattern</a:t>
            </a:r>
            <a:endParaRPr lang="en-US" sz="1400" dirty="0"/>
          </a:p>
          <a:p>
            <a:pPr indent="0" marL="0">
              <a:buNone/>
            </a:pPr>
            <a:r>
              <a:rPr lang="en-US" sz="1200" dirty="0">
                <a:solidFill>
                  <a:srgbClr val="64748B"/>
                </a:solidFill>
              </a:rPr>
              <a:t>Removed vertices are marked removed=true but not freed immediately. This allows safe stale-candidate checks in the priority queue. Memory is reclaimed in a batch flush after simplification completes.</a:t>
            </a:r>
            <a:endParaRPr lang="en-US" sz="1400" dirty="0"/>
          </a:p>
        </p:txBody>
      </p:sp>
      <p:sp>
        <p:nvSpPr>
          <p:cNvPr id="6" name="Shape 4"/>
          <p:cNvSpPr/>
          <p:nvPr/>
        </p:nvSpPr>
        <p:spPr>
          <a:xfrm>
            <a:off x="5029200" y="1188720"/>
            <a:ext cx="3749040" cy="3474720"/>
          </a:xfrm>
          <a:prstGeom prst="rect">
            <a:avLst/>
          </a:prstGeom>
          <a:solidFill>
            <a:srgbClr val="1E2761"/>
          </a:solidFill>
          <a:ln/>
        </p:spPr>
      </p:sp>
      <p:sp>
        <p:nvSpPr>
          <p:cNvPr id="7" name="Text 5"/>
          <p:cNvSpPr/>
          <p:nvPr/>
        </p:nvSpPr>
        <p:spPr>
          <a:xfrm>
            <a:off x="5212080" y="1325880"/>
            <a:ext cx="3383280" cy="320040"/>
          </a:xfrm>
          <a:prstGeom prst="rect">
            <a:avLst/>
          </a:prstGeom>
          <a:noFill/>
          <a:ln/>
        </p:spPr>
        <p:txBody>
          <a:bodyPr wrap="square" lIns="0" tIns="0" rIns="0" bIns="0" rtlCol="0" anchor="ctr"/>
          <a:lstStyle/>
          <a:p>
            <a:pPr algn="ctr" indent="0" marL="0">
              <a:buNone/>
            </a:pPr>
            <a:r>
              <a:rPr lang="en-US" sz="1600" b="1" dirty="0">
                <a:solidFill>
                  <a:srgbClr val="FFFFFF"/>
                </a:solidFill>
              </a:rPr>
              <a:t>Ring Structure</a:t>
            </a:r>
            <a:endParaRPr lang="en-US" sz="1600" dirty="0"/>
          </a:p>
        </p:txBody>
      </p:sp>
      <p:sp>
        <p:nvSpPr>
          <p:cNvPr id="8" name="Shape 6"/>
          <p:cNvSpPr/>
          <p:nvPr/>
        </p:nvSpPr>
        <p:spPr>
          <a:xfrm>
            <a:off x="6629400" y="1737360"/>
            <a:ext cx="548640" cy="548640"/>
          </a:xfrm>
          <a:prstGeom prst="ellipse">
            <a:avLst/>
          </a:prstGeom>
          <a:solidFill>
            <a:srgbClr val="3B82F6"/>
          </a:solidFill>
          <a:ln/>
        </p:spPr>
      </p:sp>
      <p:sp>
        <p:nvSpPr>
          <p:cNvPr id="9" name="Text 7"/>
          <p:cNvSpPr/>
          <p:nvPr/>
        </p:nvSpPr>
        <p:spPr>
          <a:xfrm>
            <a:off x="6629400" y="17373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0" name="Shape 8"/>
          <p:cNvSpPr/>
          <p:nvPr/>
        </p:nvSpPr>
        <p:spPr>
          <a:xfrm>
            <a:off x="7498080" y="2468880"/>
            <a:ext cx="548640" cy="548640"/>
          </a:xfrm>
          <a:prstGeom prst="ellipse">
            <a:avLst/>
          </a:prstGeom>
          <a:solidFill>
            <a:srgbClr val="3B82F6"/>
          </a:solidFill>
          <a:ln/>
        </p:spPr>
      </p:sp>
      <p:sp>
        <p:nvSpPr>
          <p:cNvPr id="11" name="Text 9"/>
          <p:cNvSpPr/>
          <p:nvPr/>
        </p:nvSpPr>
        <p:spPr>
          <a:xfrm>
            <a:off x="7498080" y="24688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2" name="Shape 10"/>
          <p:cNvSpPr/>
          <p:nvPr/>
        </p:nvSpPr>
        <p:spPr>
          <a:xfrm>
            <a:off x="7040880" y="3383280"/>
            <a:ext cx="548640" cy="548640"/>
          </a:xfrm>
          <a:prstGeom prst="ellipse">
            <a:avLst/>
          </a:prstGeom>
          <a:solidFill>
            <a:srgbClr val="3B82F6"/>
          </a:solidFill>
          <a:ln/>
        </p:spPr>
      </p:sp>
      <p:sp>
        <p:nvSpPr>
          <p:cNvPr id="13" name="Text 11"/>
          <p:cNvSpPr/>
          <p:nvPr/>
        </p:nvSpPr>
        <p:spPr>
          <a:xfrm>
            <a:off x="7040880" y="33832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4" name="Shape 12"/>
          <p:cNvSpPr/>
          <p:nvPr/>
        </p:nvSpPr>
        <p:spPr>
          <a:xfrm>
            <a:off x="5943600" y="3383280"/>
            <a:ext cx="548640" cy="548640"/>
          </a:xfrm>
          <a:prstGeom prst="ellipse">
            <a:avLst/>
          </a:prstGeom>
          <a:solidFill>
            <a:srgbClr val="3B82F6"/>
          </a:solidFill>
          <a:ln/>
        </p:spPr>
      </p:sp>
      <p:sp>
        <p:nvSpPr>
          <p:cNvPr id="15" name="Text 13"/>
          <p:cNvSpPr/>
          <p:nvPr/>
        </p:nvSpPr>
        <p:spPr>
          <a:xfrm>
            <a:off x="5943600" y="33832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6" name="Shape 14"/>
          <p:cNvSpPr/>
          <p:nvPr/>
        </p:nvSpPr>
        <p:spPr>
          <a:xfrm>
            <a:off x="5486400" y="2468880"/>
            <a:ext cx="548640" cy="548640"/>
          </a:xfrm>
          <a:prstGeom prst="ellipse">
            <a:avLst/>
          </a:prstGeom>
          <a:solidFill>
            <a:srgbClr val="3B82F6"/>
          </a:solidFill>
          <a:ln/>
        </p:spPr>
      </p:sp>
      <p:sp>
        <p:nvSpPr>
          <p:cNvPr id="17" name="Text 15"/>
          <p:cNvSpPr/>
          <p:nvPr/>
        </p:nvSpPr>
        <p:spPr>
          <a:xfrm>
            <a:off x="5486400" y="24688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6"/>
          <p:cNvSpPr/>
          <p:nvPr/>
        </p:nvSpPr>
        <p:spPr>
          <a:xfrm>
            <a:off x="5212080" y="4114800"/>
            <a:ext cx="3383280" cy="320040"/>
          </a:xfrm>
          <a:prstGeom prst="rect">
            <a:avLst/>
          </a:prstGeom>
          <a:noFill/>
          <a:ln/>
        </p:spPr>
        <p:txBody>
          <a:bodyPr wrap="square" lIns="0" tIns="0" rIns="0" bIns="0" rtlCol="0" anchor="ctr"/>
          <a:lstStyle/>
          <a:p>
            <a:pPr algn="ctr" indent="0" marL="0">
              <a:buNone/>
            </a:pPr>
            <a:r>
              <a:rPr lang="en-US" sz="1100" i="1" dirty="0">
                <a:solidFill>
                  <a:srgbClr val="CADCFC"/>
                </a:solidFill>
              </a:rPr>
              <a:t>prev / next pointers form a circle</a:t>
            </a:r>
            <a:endParaRPr lang="en-US" sz="1100" dirty="0"/>
          </a:p>
        </p:txBody>
      </p:sp>
      <p:sp>
        <p:nvSpPr>
          <p:cNvPr id="19" name="Shape 17"/>
          <p:cNvSpPr/>
          <p:nvPr/>
        </p:nvSpPr>
        <p:spPr>
          <a:xfrm>
            <a:off x="5212080" y="2331720"/>
            <a:ext cx="365760" cy="0"/>
          </a:xfrm>
          <a:prstGeom prst="rect">
            <a:avLst/>
          </a:prstGeom>
          <a:solidFill>
            <a:srgbClr val="CADCFC"/>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Data Structure 2: Min-Heap Priority Queue</a:t>
            </a:r>
            <a:endParaRPr lang="en-US" sz="2800" dirty="0"/>
          </a:p>
        </p:txBody>
      </p:sp>
      <p:sp>
        <p:nvSpPr>
          <p:cNvPr id="3" name="Shape 1"/>
          <p:cNvSpPr/>
          <p:nvPr/>
        </p:nvSpPr>
        <p:spPr>
          <a:xfrm>
            <a:off x="731520" y="960120"/>
            <a:ext cx="1097280" cy="45720"/>
          </a:xfrm>
          <a:prstGeom prst="rect">
            <a:avLst/>
          </a:prstGeom>
          <a:solidFill>
            <a:srgbClr val="3B82F6"/>
          </a:solidFill>
          <a:ln/>
        </p:spPr>
      </p:sp>
      <p:sp>
        <p:nvSpPr>
          <p:cNvPr id="4" name="Shape 2"/>
          <p:cNvSpPr/>
          <p:nvPr/>
        </p:nvSpPr>
        <p:spPr>
          <a:xfrm>
            <a:off x="548640" y="1188720"/>
            <a:ext cx="420624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822960" y="1280160"/>
            <a:ext cx="3657600" cy="320040"/>
          </a:xfrm>
          <a:prstGeom prst="rect">
            <a:avLst/>
          </a:prstGeom>
          <a:noFill/>
          <a:ln/>
        </p:spPr>
        <p:txBody>
          <a:bodyPr wrap="square" lIns="0" tIns="0" rIns="0" bIns="0" rtlCol="0" anchor="ctr"/>
          <a:lstStyle/>
          <a:p>
            <a:pPr indent="0" marL="0">
              <a:buNone/>
            </a:pPr>
            <a:r>
              <a:rPr lang="en-US" sz="1500" b="1" dirty="0">
                <a:solidFill>
                  <a:srgbClr val="1E2761"/>
                </a:solidFill>
              </a:rPr>
              <a:t>Candidate Struct</a:t>
            </a:r>
            <a:endParaRPr lang="en-US" sz="1500" dirty="0"/>
          </a:p>
        </p:txBody>
      </p:sp>
      <p:sp>
        <p:nvSpPr>
          <p:cNvPr id="6" name="Text 4"/>
          <p:cNvSpPr/>
          <p:nvPr/>
        </p:nvSpPr>
        <p:spPr>
          <a:xfrm>
            <a:off x="822960" y="1645920"/>
            <a:ext cx="3657600" cy="1371600"/>
          </a:xfrm>
          <a:prstGeom prst="rect">
            <a:avLst/>
          </a:prstGeom>
          <a:noFill/>
          <a:ln/>
        </p:spPr>
        <p:txBody>
          <a:bodyPr wrap="square" rtlCol="0" anchor="t"/>
          <a:lstStyle/>
          <a:p>
            <a:pPr indent="0" marL="0">
              <a:buNone/>
            </a:pPr>
            <a:r>
              <a:rPr lang="en-US" sz="1200" dirty="0">
                <a:solidFill>
                  <a:srgbClr val="3B82F6"/>
                </a:solidFill>
                <a:latin typeface="Consolas" pitchFamily="34" charset="0"/>
                <a:ea typeface="Consolas" pitchFamily="34" charset="-122"/>
                <a:cs typeface="Consolas" pitchFamily="34" charset="-120"/>
              </a:rPr>
              <a:t>displacement</a:t>
            </a:r>
            <a:endParaRPr lang="en-US" sz="1200" dirty="0"/>
          </a:p>
          <a:p>
            <a:pPr indent="0" marL="0">
              <a:buNone/>
            </a:pPr>
            <a:r>
              <a:rPr lang="en-US" sz="1100" dirty="0">
                <a:solidFill>
                  <a:srgbClr val="64748B"/>
                </a:solidFill>
              </a:rPr>
              <a:t>  → areal displacement cost (sort key)</a:t>
            </a:r>
            <a:endParaRPr lang="en-US" sz="1200" dirty="0"/>
          </a:p>
          <a:p>
            <a:pPr indent="0" marL="0">
              <a:buNone/>
            </a:pPr>
            <a:r>
              <a:rPr lang="en-US" sz="1200" dirty="0">
                <a:solidFill>
                  <a:srgbClr val="3B82F6"/>
                </a:solidFill>
                <a:latin typeface="Consolas" pitchFamily="34" charset="0"/>
                <a:ea typeface="Consolas" pitchFamily="34" charset="-122"/>
                <a:cs typeface="Consolas" pitchFamily="34" charset="-120"/>
              </a:rPr>
              <a:t>Ex, Ey</a:t>
            </a:r>
            <a:endParaRPr lang="en-US" sz="1200" dirty="0"/>
          </a:p>
          <a:p>
            <a:pPr indent="0" marL="0">
              <a:buNone/>
            </a:pPr>
            <a:r>
              <a:rPr lang="en-US" sz="1100" dirty="0">
                <a:solidFill>
                  <a:srgbClr val="64748B"/>
                </a:solidFill>
              </a:rPr>
              <a:t>  → position of replacement vertex E</a:t>
            </a:r>
            <a:endParaRPr lang="en-US" sz="1200" dirty="0"/>
          </a:p>
          <a:p>
            <a:pPr indent="0" marL="0">
              <a:buNone/>
            </a:pPr>
            <a:r>
              <a:rPr lang="en-US" sz="1200" dirty="0">
                <a:solidFill>
                  <a:srgbClr val="3B82F6"/>
                </a:solidFill>
                <a:latin typeface="Consolas" pitchFamily="34" charset="0"/>
                <a:ea typeface="Consolas" pitchFamily="34" charset="-122"/>
                <a:cs typeface="Consolas" pitchFamily="34" charset="-120"/>
              </a:rPr>
              <a:t>ring_id, A, B, C, D</a:t>
            </a:r>
            <a:endParaRPr lang="en-US" sz="1200" dirty="0"/>
          </a:p>
          <a:p>
            <a:pPr indent="0" marL="0">
              <a:buNone/>
            </a:pPr>
            <a:r>
              <a:rPr lang="en-US" sz="1100" dirty="0">
                <a:solidFill>
                  <a:srgbClr val="64748B"/>
                </a:solidFill>
              </a:rPr>
              <a:t>  → ring ID and vertex pointers</a:t>
            </a:r>
            <a:endParaRPr lang="en-US" sz="1200" dirty="0"/>
          </a:p>
        </p:txBody>
      </p:sp>
      <p:sp>
        <p:nvSpPr>
          <p:cNvPr id="7" name="Shape 5"/>
          <p:cNvSpPr/>
          <p:nvPr/>
        </p:nvSpPr>
        <p:spPr>
          <a:xfrm>
            <a:off x="5029200" y="1188720"/>
            <a:ext cx="374904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5303520" y="1280160"/>
            <a:ext cx="3200400" cy="320040"/>
          </a:xfrm>
          <a:prstGeom prst="rect">
            <a:avLst/>
          </a:prstGeom>
          <a:noFill/>
          <a:ln/>
        </p:spPr>
        <p:txBody>
          <a:bodyPr wrap="square" lIns="0" tIns="0" rIns="0" bIns="0" rtlCol="0" anchor="ctr"/>
          <a:lstStyle/>
          <a:p>
            <a:pPr indent="0" marL="0">
              <a:buNone/>
            </a:pPr>
            <a:r>
              <a:rPr lang="en-US" sz="1500" b="1" dirty="0">
                <a:solidFill>
                  <a:srgbClr val="1E2761"/>
                </a:solidFill>
              </a:rPr>
              <a:t>Deterministic Tie-Breaking</a:t>
            </a:r>
            <a:endParaRPr lang="en-US" sz="1500" dirty="0"/>
          </a:p>
        </p:txBody>
      </p:sp>
      <p:sp>
        <p:nvSpPr>
          <p:cNvPr id="9" name="Text 7"/>
          <p:cNvSpPr/>
          <p:nvPr/>
        </p:nvSpPr>
        <p:spPr>
          <a:xfrm>
            <a:off x="5303520" y="1645920"/>
            <a:ext cx="3200400" cy="1371600"/>
          </a:xfrm>
          <a:prstGeom prst="rect">
            <a:avLst/>
          </a:prstGeom>
          <a:noFill/>
          <a:ln/>
        </p:spPr>
        <p:txBody>
          <a:bodyPr wrap="square" rtlCol="0" anchor="t"/>
          <a:lstStyle/>
          <a:p>
            <a:pPr marL="342900" indent="-342900">
              <a:buSzPct val="100000"/>
              <a:buChar char="•"/>
            </a:pPr>
            <a:r>
              <a:rPr lang="en-US" sz="1200" dirty="0">
                <a:solidFill>
                  <a:srgbClr val="1E293B"/>
                </a:solidFill>
              </a:rPr>
              <a:t>1. displacement (lowest first)</a:t>
            </a:r>
            <a:endParaRPr lang="en-US" sz="1200" dirty="0"/>
          </a:p>
          <a:p>
            <a:pPr marL="342900" indent="-342900">
              <a:buSzPct val="100000"/>
              <a:buChar char="•"/>
            </a:pPr>
            <a:r>
              <a:rPr lang="en-US" sz="1200" dirty="0">
                <a:solidFill>
                  <a:srgbClr val="1E293B"/>
                </a:solidFill>
              </a:rPr>
              <a:t>2. ring_id</a:t>
            </a:r>
            <a:endParaRPr lang="en-US" sz="1200" dirty="0"/>
          </a:p>
          <a:p>
            <a:pPr marL="342900" indent="-342900">
              <a:buSzPct val="100000"/>
              <a:buChar char="•"/>
            </a:pPr>
            <a:r>
              <a:rPr lang="en-US" sz="1200" dirty="0">
                <a:solidFill>
                  <a:srgbClr val="1E293B"/>
                </a:solidFill>
              </a:rPr>
              <a:t>3. vertex IDs (B, C, A, D)</a:t>
            </a:r>
            <a:endParaRPr lang="en-US" sz="1200" dirty="0"/>
          </a:p>
          <a:p>
            <a:pPr marL="342900" indent="-342900">
              <a:buSzPct val="100000"/>
              <a:buChar char="•"/>
            </a:pPr>
            <a:r>
              <a:rPr lang="en-US" sz="1200" dirty="0">
                <a:solidFill>
                  <a:srgbClr val="1E293B"/>
                </a:solidFill>
              </a:rPr>
              <a:t>4. pointer address (final fallback)</a:t>
            </a:r>
            <a:endParaRPr lang="en-US" sz="1200" dirty="0"/>
          </a:p>
          <a:p>
            <a:pPr indent="0" marL="0">
              <a:buNone/>
            </a:pPr>
            <a:endParaRPr lang="en-US" sz="1200" dirty="0"/>
          </a:p>
          <a:p>
            <a:pPr indent="0" marL="0">
              <a:buNone/>
            </a:pPr>
            <a:r>
              <a:rPr lang="en-US" sz="1200" i="1" dirty="0">
                <a:solidFill>
                  <a:srgbClr val="64748B"/>
                </a:solidFill>
              </a:rPr>
              <a:t>Ensures identical output across runs</a:t>
            </a:r>
            <a:endParaRPr lang="en-US" sz="1200" dirty="0"/>
          </a:p>
        </p:txBody>
      </p:sp>
      <p:sp>
        <p:nvSpPr>
          <p:cNvPr id="10" name="Shape 8"/>
          <p:cNvSpPr/>
          <p:nvPr/>
        </p:nvSpPr>
        <p:spPr>
          <a:xfrm>
            <a:off x="548640" y="3474720"/>
            <a:ext cx="8229600" cy="1280160"/>
          </a:xfrm>
          <a:prstGeom prst="rect">
            <a:avLst/>
          </a:prstGeom>
          <a:solidFill>
            <a:srgbClr val="1E2761"/>
          </a:solidFill>
          <a:ln/>
        </p:spPr>
      </p:sp>
      <p:sp>
        <p:nvSpPr>
          <p:cNvPr id="11" name="Text 9"/>
          <p:cNvSpPr/>
          <p:nvPr/>
        </p:nvSpPr>
        <p:spPr>
          <a:xfrm>
            <a:off x="822960" y="3611880"/>
            <a:ext cx="7680960" cy="1005840"/>
          </a:xfrm>
          <a:prstGeom prst="rect">
            <a:avLst/>
          </a:prstGeom>
          <a:noFill/>
          <a:ln/>
        </p:spPr>
        <p:txBody>
          <a:bodyPr wrap="square" rtlCol="0" anchor="ctr"/>
          <a:lstStyle/>
          <a:p>
            <a:pPr indent="0" marL="0">
              <a:buNone/>
            </a:pPr>
            <a:r>
              <a:rPr lang="en-US" sz="1300" dirty="0">
                <a:solidFill>
                  <a:srgbClr val="CADCFC"/>
                </a:solidFill>
                <a:latin typeface="Consolas" pitchFamily="34" charset="0"/>
                <a:ea typeface="Consolas" pitchFamily="34" charset="-122"/>
                <a:cs typeface="Consolas" pitchFamily="34" charset="-120"/>
              </a:rPr>
              <a:t>std::priority_queue&lt;Candidate, vector, greater&gt;</a:t>
            </a:r>
            <a:endParaRPr lang="en-US" sz="1300" dirty="0"/>
          </a:p>
          <a:p>
            <a:pPr indent="0" marL="0">
              <a:buNone/>
            </a:pPr>
            <a:endParaRPr lang="en-US" sz="1300" dirty="0"/>
          </a:p>
          <a:p>
            <a:pPr indent="0" marL="0">
              <a:buNone/>
            </a:pPr>
            <a:r>
              <a:rPr lang="en-US" sz="1300" dirty="0">
                <a:solidFill>
                  <a:srgbClr val="FFFFFF"/>
                </a:solidFill>
              </a:rPr>
              <a:t>Push: O(log n)  |  Pop: O(log n)  |  Lazy deletion: O(1) validity check on pop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Data Structure 3: Spatial Grid Index</a:t>
            </a:r>
            <a:endParaRPr lang="en-US" sz="2800" dirty="0"/>
          </a:p>
        </p:txBody>
      </p:sp>
      <p:sp>
        <p:nvSpPr>
          <p:cNvPr id="3" name="Shape 1"/>
          <p:cNvSpPr/>
          <p:nvPr/>
        </p:nvSpPr>
        <p:spPr>
          <a:xfrm>
            <a:off x="731520" y="960120"/>
            <a:ext cx="1097280" cy="45720"/>
          </a:xfrm>
          <a:prstGeom prst="rect">
            <a:avLst/>
          </a:prstGeom>
          <a:solidFill>
            <a:srgbClr val="3B82F6"/>
          </a:solidFill>
          <a:ln/>
        </p:spPr>
      </p:sp>
      <p:sp>
        <p:nvSpPr>
          <p:cNvPr id="4" name="Shape 2"/>
          <p:cNvSpPr/>
          <p:nvPr/>
        </p:nvSpPr>
        <p:spPr>
          <a:xfrm>
            <a:off x="548640" y="1188720"/>
            <a:ext cx="47548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822960" y="1325880"/>
            <a:ext cx="4206240" cy="3200400"/>
          </a:xfrm>
          <a:prstGeom prst="rect">
            <a:avLst/>
          </a:prstGeom>
          <a:noFill/>
          <a:ln/>
        </p:spPr>
        <p:txBody>
          <a:bodyPr wrap="square" rtlCol="0" anchor="t"/>
          <a:lstStyle/>
          <a:p>
            <a:pPr indent="0" marL="0">
              <a:buNone/>
            </a:pPr>
            <a:r>
              <a:rPr lang="en-US" sz="1400" b="1" dirty="0">
                <a:solidFill>
                  <a:srgbClr val="1E293B"/>
                </a:solidFill>
              </a:rPr>
              <a:t>Uniform grid over the polygon's bounding box</a:t>
            </a:r>
            <a:endParaRPr lang="en-US" sz="1400" dirty="0"/>
          </a:p>
          <a:p>
            <a:pPr indent="0" marL="0">
              <a:buNone/>
            </a:pPr>
            <a:endParaRPr lang="en-US" sz="1400" dirty="0"/>
          </a:p>
          <a:p>
            <a:pPr marL="342900" indent="-342900">
              <a:buSzPct val="100000"/>
              <a:buChar char="•"/>
            </a:pPr>
            <a:r>
              <a:rPr lang="en-US" sz="1300" dirty="0">
                <a:solidFill>
                  <a:srgbClr val="1E293B"/>
                </a:solidFill>
              </a:rPr>
              <a:t>√n × √n cells</a:t>
            </a:r>
            <a:endParaRPr lang="en-US" sz="1400" dirty="0"/>
          </a:p>
          <a:p>
            <a:pPr marL="342900" indent="-342900">
              <a:buSzPct val="100000"/>
              <a:buChar char="•"/>
            </a:pPr>
            <a:r>
              <a:rPr lang="en-US" sz="1300" dirty="0">
                <a:solidFill>
                  <a:srgbClr val="1E293B"/>
                </a:solidFill>
              </a:rPr>
              <a:t>Each polygon edge registered in all overlapping cells</a:t>
            </a:r>
            <a:endParaRPr lang="en-US" sz="1400" dirty="0"/>
          </a:p>
          <a:p>
            <a:pPr marL="342900" indent="-342900">
              <a:buSzPct val="100000"/>
              <a:buChar char="•"/>
            </a:pPr>
            <a:r>
              <a:rPr lang="en-US" sz="1300" dirty="0">
                <a:solidFill>
                  <a:srgbClr val="1E293B"/>
                </a:solidFill>
              </a:rPr>
              <a:t>Intersection query checks only edges in relevant cells</a:t>
            </a:r>
            <a:endParaRPr lang="en-US" sz="1400" dirty="0"/>
          </a:p>
          <a:p>
            <a:pPr marL="342900" indent="-342900">
              <a:buSzPct val="100000"/>
              <a:buChar char="•"/>
            </a:pPr>
            <a:r>
              <a:rPr lang="en-US" sz="1300" dirty="0">
                <a:solidFill>
                  <a:srgbClr val="1E293B"/>
                </a:solidFill>
              </a:rPr>
              <a:t>Incremental insert/remove after each collapse</a:t>
            </a:r>
            <a:endParaRPr lang="en-US" sz="1400" dirty="0"/>
          </a:p>
          <a:p>
            <a:pPr indent="0" marL="0">
              <a:buNone/>
            </a:pPr>
            <a:endParaRPr lang="en-US" sz="1400" dirty="0"/>
          </a:p>
          <a:p>
            <a:pPr indent="0" marL="0">
              <a:buNone/>
            </a:pPr>
            <a:r>
              <a:rPr lang="en-US" sz="1400" b="1" dirty="0">
                <a:solidFill>
                  <a:srgbClr val="1E2761"/>
                </a:solidFill>
              </a:rPr>
              <a:t>Complexity Comparison</a:t>
            </a:r>
            <a:endParaRPr lang="en-US" sz="1400" dirty="0"/>
          </a:p>
          <a:p>
            <a:pPr indent="0" marL="0">
              <a:buNone/>
            </a:pPr>
            <a:endParaRPr lang="en-US" sz="1400" dirty="0"/>
          </a:p>
          <a:p>
            <a:pPr indent="0" marL="0">
              <a:buNone/>
            </a:pPr>
            <a:r>
              <a:rPr lang="en-US" sz="1200" dirty="0">
                <a:solidFill>
                  <a:srgbClr val="64748B"/>
                </a:solidFill>
                <a:latin typeface="Consolas" pitchFamily="34" charset="0"/>
                <a:ea typeface="Consolas" pitchFamily="34" charset="-122"/>
                <a:cs typeface="Consolas" pitchFamily="34" charset="-120"/>
              </a:rPr>
              <a:t>Naive scan:        O(n) per query</a:t>
            </a:r>
            <a:endParaRPr lang="en-US" sz="1400" dirty="0"/>
          </a:p>
          <a:p>
            <a:pPr indent="0" marL="0">
              <a:buNone/>
            </a:pPr>
            <a:r>
              <a:rPr lang="en-US" sz="1200" b="1" dirty="0">
                <a:solidFill>
                  <a:srgbClr val="3B82F6"/>
                </a:solidFill>
                <a:latin typeface="Consolas" pitchFamily="34" charset="0"/>
                <a:ea typeface="Consolas" pitchFamily="34" charset="-122"/>
                <a:cs typeface="Consolas" pitchFamily="34" charset="-120"/>
              </a:rPr>
              <a:t>Spatial grid:      O(√n) per query</a:t>
            </a:r>
            <a:endParaRPr lang="en-US" sz="1400" dirty="0"/>
          </a:p>
          <a:p>
            <a:pPr indent="0" marL="0">
              <a:buNone/>
            </a:pPr>
            <a:endParaRPr lang="en-US" sz="1400" dirty="0"/>
          </a:p>
          <a:p>
            <a:pPr indent="0" marL="0">
              <a:buNone/>
            </a:pPr>
            <a:r>
              <a:rPr lang="en-US" sz="1300" b="1" dirty="0">
                <a:solidFill>
                  <a:srgbClr val="1E293B"/>
                </a:solidFill>
              </a:rPr>
              <a:t>Overall: O(n) collapses × O(√n) each = O(n√n)</a:t>
            </a:r>
            <a:endParaRPr lang="en-US" sz="1400" dirty="0"/>
          </a:p>
        </p:txBody>
      </p:sp>
      <p:sp>
        <p:nvSpPr>
          <p:cNvPr id="6" name="Shape 4"/>
          <p:cNvSpPr/>
          <p:nvPr/>
        </p:nvSpPr>
        <p:spPr>
          <a:xfrm>
            <a:off x="5577840" y="1188720"/>
            <a:ext cx="3200400" cy="3474720"/>
          </a:xfrm>
          <a:prstGeom prst="rect">
            <a:avLst/>
          </a:prstGeom>
          <a:solidFill>
            <a:srgbClr val="1E2761"/>
          </a:solidFill>
          <a:ln/>
        </p:spPr>
      </p:sp>
      <p:sp>
        <p:nvSpPr>
          <p:cNvPr id="7" name="Text 5"/>
          <p:cNvSpPr/>
          <p:nvPr/>
        </p:nvSpPr>
        <p:spPr>
          <a:xfrm>
            <a:off x="5760720" y="1325880"/>
            <a:ext cx="2834640" cy="320040"/>
          </a:xfrm>
          <a:prstGeom prst="rect">
            <a:avLst/>
          </a:prstGeom>
          <a:noFill/>
          <a:ln/>
        </p:spPr>
        <p:txBody>
          <a:bodyPr wrap="square" lIns="0" tIns="0" rIns="0" bIns="0" rtlCol="0" anchor="ctr"/>
          <a:lstStyle/>
          <a:p>
            <a:pPr algn="ctr" indent="0" marL="0">
              <a:buNone/>
            </a:pPr>
            <a:r>
              <a:rPr lang="en-US" sz="1500" b="1" dirty="0">
                <a:solidFill>
                  <a:srgbClr val="FFFFFF"/>
                </a:solidFill>
              </a:rPr>
              <a:t>Grid Partitioning</a:t>
            </a:r>
            <a:endParaRPr lang="en-US" sz="1500" dirty="0"/>
          </a:p>
        </p:txBody>
      </p:sp>
      <p:sp>
        <p:nvSpPr>
          <p:cNvPr id="8" name="Shape 6"/>
          <p:cNvSpPr/>
          <p:nvPr/>
        </p:nvSpPr>
        <p:spPr>
          <a:xfrm>
            <a:off x="5852160" y="1828800"/>
            <a:ext cx="0" cy="2560320"/>
          </a:xfrm>
          <a:prstGeom prst="line">
            <a:avLst/>
          </a:prstGeom>
          <a:noFill/>
          <a:ln w="12700">
            <a:solidFill>
              <a:srgbClr val="4B5563"/>
            </a:solidFill>
            <a:prstDash val="solid"/>
          </a:ln>
        </p:spPr>
      </p:sp>
      <p:sp>
        <p:nvSpPr>
          <p:cNvPr id="9" name="Shape 7"/>
          <p:cNvSpPr/>
          <p:nvPr/>
        </p:nvSpPr>
        <p:spPr>
          <a:xfrm>
            <a:off x="5852160" y="1828800"/>
            <a:ext cx="2560320" cy="0"/>
          </a:xfrm>
          <a:prstGeom prst="line">
            <a:avLst/>
          </a:prstGeom>
          <a:noFill/>
          <a:ln w="12700">
            <a:solidFill>
              <a:srgbClr val="4B5563"/>
            </a:solidFill>
            <a:prstDash val="solid"/>
          </a:ln>
        </p:spPr>
      </p:sp>
      <p:sp>
        <p:nvSpPr>
          <p:cNvPr id="10" name="Shape 8"/>
          <p:cNvSpPr/>
          <p:nvPr/>
        </p:nvSpPr>
        <p:spPr>
          <a:xfrm>
            <a:off x="6492240" y="1828800"/>
            <a:ext cx="0" cy="2560320"/>
          </a:xfrm>
          <a:prstGeom prst="line">
            <a:avLst/>
          </a:prstGeom>
          <a:noFill/>
          <a:ln w="12700">
            <a:solidFill>
              <a:srgbClr val="4B5563"/>
            </a:solidFill>
            <a:prstDash val="solid"/>
          </a:ln>
        </p:spPr>
      </p:sp>
      <p:sp>
        <p:nvSpPr>
          <p:cNvPr id="11" name="Shape 9"/>
          <p:cNvSpPr/>
          <p:nvPr/>
        </p:nvSpPr>
        <p:spPr>
          <a:xfrm>
            <a:off x="5852160" y="2468880"/>
            <a:ext cx="2560320" cy="0"/>
          </a:xfrm>
          <a:prstGeom prst="line">
            <a:avLst/>
          </a:prstGeom>
          <a:noFill/>
          <a:ln w="12700">
            <a:solidFill>
              <a:srgbClr val="4B5563"/>
            </a:solidFill>
            <a:prstDash val="solid"/>
          </a:ln>
        </p:spPr>
      </p:sp>
      <p:sp>
        <p:nvSpPr>
          <p:cNvPr id="12" name="Shape 10"/>
          <p:cNvSpPr/>
          <p:nvPr/>
        </p:nvSpPr>
        <p:spPr>
          <a:xfrm>
            <a:off x="7132320" y="1828800"/>
            <a:ext cx="0" cy="2560320"/>
          </a:xfrm>
          <a:prstGeom prst="line">
            <a:avLst/>
          </a:prstGeom>
          <a:noFill/>
          <a:ln w="12700">
            <a:solidFill>
              <a:srgbClr val="4B5563"/>
            </a:solidFill>
            <a:prstDash val="solid"/>
          </a:ln>
        </p:spPr>
      </p:sp>
      <p:sp>
        <p:nvSpPr>
          <p:cNvPr id="13" name="Shape 11"/>
          <p:cNvSpPr/>
          <p:nvPr/>
        </p:nvSpPr>
        <p:spPr>
          <a:xfrm>
            <a:off x="5852160" y="3108960"/>
            <a:ext cx="2560320" cy="0"/>
          </a:xfrm>
          <a:prstGeom prst="line">
            <a:avLst/>
          </a:prstGeom>
          <a:noFill/>
          <a:ln w="12700">
            <a:solidFill>
              <a:srgbClr val="4B5563"/>
            </a:solidFill>
            <a:prstDash val="solid"/>
          </a:ln>
        </p:spPr>
      </p:sp>
      <p:sp>
        <p:nvSpPr>
          <p:cNvPr id="14" name="Shape 12"/>
          <p:cNvSpPr/>
          <p:nvPr/>
        </p:nvSpPr>
        <p:spPr>
          <a:xfrm>
            <a:off x="7772400" y="1828800"/>
            <a:ext cx="0" cy="2560320"/>
          </a:xfrm>
          <a:prstGeom prst="line">
            <a:avLst/>
          </a:prstGeom>
          <a:noFill/>
          <a:ln w="12700">
            <a:solidFill>
              <a:srgbClr val="4B5563"/>
            </a:solidFill>
            <a:prstDash val="solid"/>
          </a:ln>
        </p:spPr>
      </p:sp>
      <p:sp>
        <p:nvSpPr>
          <p:cNvPr id="15" name="Shape 13"/>
          <p:cNvSpPr/>
          <p:nvPr/>
        </p:nvSpPr>
        <p:spPr>
          <a:xfrm>
            <a:off x="5852160" y="3749040"/>
            <a:ext cx="2560320" cy="0"/>
          </a:xfrm>
          <a:prstGeom prst="line">
            <a:avLst/>
          </a:prstGeom>
          <a:noFill/>
          <a:ln w="12700">
            <a:solidFill>
              <a:srgbClr val="4B5563"/>
            </a:solidFill>
            <a:prstDash val="solid"/>
          </a:ln>
        </p:spPr>
      </p:sp>
      <p:sp>
        <p:nvSpPr>
          <p:cNvPr id="16" name="Shape 14"/>
          <p:cNvSpPr/>
          <p:nvPr/>
        </p:nvSpPr>
        <p:spPr>
          <a:xfrm>
            <a:off x="8412480" y="1828800"/>
            <a:ext cx="0" cy="2560320"/>
          </a:xfrm>
          <a:prstGeom prst="line">
            <a:avLst/>
          </a:prstGeom>
          <a:noFill/>
          <a:ln w="12700">
            <a:solidFill>
              <a:srgbClr val="4B5563"/>
            </a:solidFill>
            <a:prstDash val="solid"/>
          </a:ln>
        </p:spPr>
      </p:sp>
      <p:sp>
        <p:nvSpPr>
          <p:cNvPr id="17" name="Shape 15"/>
          <p:cNvSpPr/>
          <p:nvPr/>
        </p:nvSpPr>
        <p:spPr>
          <a:xfrm>
            <a:off x="5852160" y="4389120"/>
            <a:ext cx="2560320" cy="0"/>
          </a:xfrm>
          <a:prstGeom prst="line">
            <a:avLst/>
          </a:prstGeom>
          <a:noFill/>
          <a:ln w="12700">
            <a:solidFill>
              <a:srgbClr val="4B5563"/>
            </a:solidFill>
            <a:prstDash val="solid"/>
          </a:ln>
        </p:spPr>
      </p:sp>
      <p:sp>
        <p:nvSpPr>
          <p:cNvPr id="18" name="Shape 16"/>
          <p:cNvSpPr/>
          <p:nvPr/>
        </p:nvSpPr>
        <p:spPr>
          <a:xfrm>
            <a:off x="6492240" y="2468880"/>
            <a:ext cx="640080" cy="640080"/>
          </a:xfrm>
          <a:prstGeom prst="rect">
            <a:avLst/>
          </a:prstGeom>
          <a:solidFill>
            <a:srgbClr val="3B82F6">
              <a:alpha val="40000"/>
            </a:srgbClr>
          </a:solidFill>
          <a:ln/>
        </p:spPr>
      </p:sp>
      <p:sp>
        <p:nvSpPr>
          <p:cNvPr id="19" name="Text 17"/>
          <p:cNvSpPr/>
          <p:nvPr/>
        </p:nvSpPr>
        <p:spPr>
          <a:xfrm>
            <a:off x="5760720" y="4114800"/>
            <a:ext cx="2834640" cy="365760"/>
          </a:xfrm>
          <a:prstGeom prst="rect">
            <a:avLst/>
          </a:prstGeom>
          <a:noFill/>
          <a:ln/>
        </p:spPr>
        <p:txBody>
          <a:bodyPr wrap="square" lIns="0" tIns="0" rIns="0" bIns="0" rtlCol="0" anchor="ctr"/>
          <a:lstStyle/>
          <a:p>
            <a:pPr algn="ctr" indent="0" marL="0">
              <a:buNone/>
            </a:pPr>
            <a:r>
              <a:rPr lang="en-US" sz="1100" i="1" dirty="0">
                <a:solidFill>
                  <a:srgbClr val="CADCFC"/>
                </a:solidFill>
              </a:rPr>
              <a:t>Query only</a:t>
            </a:r>
            <a:endParaRPr lang="en-US" sz="1100" dirty="0"/>
          </a:p>
          <a:p>
            <a:pPr algn="ctr" indent="0" marL="0">
              <a:buNone/>
            </a:pPr>
            <a:r>
              <a:rPr lang="en-US" sz="1100" i="1" dirty="0">
                <a:solidFill>
                  <a:srgbClr val="CADCFC"/>
                </a:solidFill>
              </a:rPr>
              <a:t>highlighted cells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Topology Preservation</a:t>
            </a:r>
            <a:endParaRPr lang="en-US" sz="3200" dirty="0"/>
          </a:p>
        </p:txBody>
      </p:sp>
      <p:sp>
        <p:nvSpPr>
          <p:cNvPr id="3" name="Shape 1"/>
          <p:cNvSpPr/>
          <p:nvPr/>
        </p:nvSpPr>
        <p:spPr>
          <a:xfrm>
            <a:off x="731520" y="960120"/>
            <a:ext cx="1097280" cy="45720"/>
          </a:xfrm>
          <a:prstGeom prst="rect">
            <a:avLst/>
          </a:prstGeom>
          <a:solidFill>
            <a:srgbClr val="3B82F6"/>
          </a:solidFill>
          <a:ln/>
        </p:spPr>
      </p:sp>
      <p:sp>
        <p:nvSpPr>
          <p:cNvPr id="4" name="Shape 2"/>
          <p:cNvSpPr/>
          <p:nvPr/>
        </p:nvSpPr>
        <p:spPr>
          <a:xfrm>
            <a:off x="548640" y="1188720"/>
            <a:ext cx="39319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548640" y="1188720"/>
            <a:ext cx="73152" cy="1645920"/>
          </a:xfrm>
          <a:prstGeom prst="rect">
            <a:avLst/>
          </a:prstGeom>
          <a:solidFill>
            <a:srgbClr val="3B82F6"/>
          </a:solidFill>
          <a:ln/>
        </p:spPr>
      </p:sp>
      <p:sp>
        <p:nvSpPr>
          <p:cNvPr id="6" name="Text 4"/>
          <p:cNvSpPr/>
          <p:nvPr/>
        </p:nvSpPr>
        <p:spPr>
          <a:xfrm>
            <a:off x="777240" y="1280160"/>
            <a:ext cx="3474720" cy="320040"/>
          </a:xfrm>
          <a:prstGeom prst="rect">
            <a:avLst/>
          </a:prstGeom>
          <a:noFill/>
          <a:ln/>
        </p:spPr>
        <p:txBody>
          <a:bodyPr wrap="square" lIns="0" tIns="0" rIns="0" bIns="0" rtlCol="0" anchor="ctr"/>
          <a:lstStyle/>
          <a:p>
            <a:pPr indent="0" marL="0">
              <a:buNone/>
            </a:pPr>
            <a:r>
              <a:rPr lang="en-US" sz="1600" b="1" dirty="0">
                <a:solidFill>
                  <a:srgbClr val="1E2761"/>
                </a:solidFill>
              </a:rPr>
              <a:t>Same-Ring Check</a:t>
            </a:r>
            <a:endParaRPr lang="en-US" sz="1600" dirty="0"/>
          </a:p>
        </p:txBody>
      </p:sp>
      <p:sp>
        <p:nvSpPr>
          <p:cNvPr id="7" name="Text 5"/>
          <p:cNvSpPr/>
          <p:nvPr/>
        </p:nvSpPr>
        <p:spPr>
          <a:xfrm>
            <a:off x="777240" y="1645920"/>
            <a:ext cx="3474720" cy="548640"/>
          </a:xfrm>
          <a:prstGeom prst="rect">
            <a:avLst/>
          </a:prstGeom>
          <a:noFill/>
          <a:ln/>
        </p:spPr>
        <p:txBody>
          <a:bodyPr wrap="square" lIns="0" tIns="0" rIns="0" bIns="0" rtlCol="0" anchor="ctr"/>
          <a:lstStyle/>
          <a:p>
            <a:pPr indent="0" marL="0">
              <a:buNone/>
            </a:pPr>
            <a:r>
              <a:rPr lang="en-US" sz="1300" dirty="0">
                <a:solidFill>
                  <a:srgbClr val="1E293B"/>
                </a:solidFill>
              </a:rPr>
              <a:t>New edges A→E and E→D must not</a:t>
            </a:r>
            <a:endParaRPr lang="en-US" sz="1300" dirty="0"/>
          </a:p>
          <a:p>
            <a:pPr indent="0" marL="0">
              <a:buNone/>
            </a:pPr>
            <a:r>
              <a:rPr lang="en-US" sz="1300" dirty="0">
                <a:solidFill>
                  <a:srgbClr val="1E293B"/>
                </a:solidFill>
              </a:rPr>
              <a:t>intersect any other edge in the same ring</a:t>
            </a:r>
            <a:endParaRPr lang="en-US" sz="1300" dirty="0"/>
          </a:p>
        </p:txBody>
      </p:sp>
      <p:sp>
        <p:nvSpPr>
          <p:cNvPr id="8" name="Text 6"/>
          <p:cNvSpPr/>
          <p:nvPr/>
        </p:nvSpPr>
        <p:spPr>
          <a:xfrm>
            <a:off x="777240" y="2377440"/>
            <a:ext cx="3474720" cy="274320"/>
          </a:xfrm>
          <a:prstGeom prst="rect">
            <a:avLst/>
          </a:prstGeom>
          <a:noFill/>
          <a:ln/>
        </p:spPr>
        <p:txBody>
          <a:bodyPr wrap="square" lIns="0" tIns="0" rIns="0" bIns="0" rtlCol="0" anchor="ctr"/>
          <a:lstStyle/>
          <a:p>
            <a:pPr indent="0" marL="0">
              <a:buNone/>
            </a:pPr>
            <a:r>
              <a:rPr lang="en-US" sz="1200" i="1" dirty="0">
                <a:solidFill>
                  <a:srgbClr val="3B82F6"/>
                </a:solidFill>
              </a:rPr>
              <a:t>Prevents self-intersection</a:t>
            </a:r>
            <a:endParaRPr lang="en-US" sz="1200" dirty="0"/>
          </a:p>
        </p:txBody>
      </p:sp>
      <p:sp>
        <p:nvSpPr>
          <p:cNvPr id="9" name="Shape 7"/>
          <p:cNvSpPr/>
          <p:nvPr/>
        </p:nvSpPr>
        <p:spPr>
          <a:xfrm>
            <a:off x="4846320" y="1188720"/>
            <a:ext cx="39319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4846320" y="1188720"/>
            <a:ext cx="73152" cy="1645920"/>
          </a:xfrm>
          <a:prstGeom prst="rect">
            <a:avLst/>
          </a:prstGeom>
          <a:solidFill>
            <a:srgbClr val="3B82F6"/>
          </a:solidFill>
          <a:ln/>
        </p:spPr>
      </p:sp>
      <p:sp>
        <p:nvSpPr>
          <p:cNvPr id="11" name="Text 9"/>
          <p:cNvSpPr/>
          <p:nvPr/>
        </p:nvSpPr>
        <p:spPr>
          <a:xfrm>
            <a:off x="5074920" y="1280160"/>
            <a:ext cx="3474720" cy="320040"/>
          </a:xfrm>
          <a:prstGeom prst="rect">
            <a:avLst/>
          </a:prstGeom>
          <a:noFill/>
          <a:ln/>
        </p:spPr>
        <p:txBody>
          <a:bodyPr wrap="square" lIns="0" tIns="0" rIns="0" bIns="0" rtlCol="0" anchor="ctr"/>
          <a:lstStyle/>
          <a:p>
            <a:pPr indent="0" marL="0">
              <a:buNone/>
            </a:pPr>
            <a:r>
              <a:rPr lang="en-US" sz="1600" b="1" dirty="0">
                <a:solidFill>
                  <a:srgbClr val="1E2761"/>
                </a:solidFill>
              </a:rPr>
              <a:t>Cross-Ring Check</a:t>
            </a:r>
            <a:endParaRPr lang="en-US" sz="1600" dirty="0"/>
          </a:p>
        </p:txBody>
      </p:sp>
      <p:sp>
        <p:nvSpPr>
          <p:cNvPr id="12" name="Text 10"/>
          <p:cNvSpPr/>
          <p:nvPr/>
        </p:nvSpPr>
        <p:spPr>
          <a:xfrm>
            <a:off x="5074920" y="1645920"/>
            <a:ext cx="3474720" cy="548640"/>
          </a:xfrm>
          <a:prstGeom prst="rect">
            <a:avLst/>
          </a:prstGeom>
          <a:noFill/>
          <a:ln/>
        </p:spPr>
        <p:txBody>
          <a:bodyPr wrap="square" lIns="0" tIns="0" rIns="0" bIns="0" rtlCol="0" anchor="ctr"/>
          <a:lstStyle/>
          <a:p>
            <a:pPr indent="0" marL="0">
              <a:buNone/>
            </a:pPr>
            <a:r>
              <a:rPr lang="en-US" sz="1300" dirty="0">
                <a:solidFill>
                  <a:srgbClr val="1E293B"/>
                </a:solidFill>
              </a:rPr>
              <a:t>New edges must not cross edges</a:t>
            </a:r>
            <a:endParaRPr lang="en-US" sz="1300" dirty="0"/>
          </a:p>
          <a:p>
            <a:pPr indent="0" marL="0">
              <a:buNone/>
            </a:pPr>
            <a:r>
              <a:rPr lang="en-US" sz="1300" dirty="0">
                <a:solidFill>
                  <a:srgbClr val="1E293B"/>
                </a:solidFill>
              </a:rPr>
              <a:t>of any other ring (exterior or hole)</a:t>
            </a:r>
            <a:endParaRPr lang="en-US" sz="1300" dirty="0"/>
          </a:p>
        </p:txBody>
      </p:sp>
      <p:sp>
        <p:nvSpPr>
          <p:cNvPr id="13" name="Text 11"/>
          <p:cNvSpPr/>
          <p:nvPr/>
        </p:nvSpPr>
        <p:spPr>
          <a:xfrm>
            <a:off x="5074920" y="2377440"/>
            <a:ext cx="3474720" cy="274320"/>
          </a:xfrm>
          <a:prstGeom prst="rect">
            <a:avLst/>
          </a:prstGeom>
          <a:noFill/>
          <a:ln/>
        </p:spPr>
        <p:txBody>
          <a:bodyPr wrap="square" lIns="0" tIns="0" rIns="0" bIns="0" rtlCol="0" anchor="ctr"/>
          <a:lstStyle/>
          <a:p>
            <a:pPr indent="0" marL="0">
              <a:buNone/>
            </a:pPr>
            <a:r>
              <a:rPr lang="en-US" sz="1200" i="1" dirty="0">
                <a:solidFill>
                  <a:srgbClr val="3B82F6"/>
                </a:solidFill>
              </a:rPr>
              <a:t>Prevents ring boundary violations</a:t>
            </a:r>
            <a:endParaRPr lang="en-US" sz="1200" dirty="0"/>
          </a:p>
        </p:txBody>
      </p:sp>
      <p:sp>
        <p:nvSpPr>
          <p:cNvPr id="14" name="Shape 12"/>
          <p:cNvSpPr/>
          <p:nvPr/>
        </p:nvSpPr>
        <p:spPr>
          <a:xfrm>
            <a:off x="548640" y="3108960"/>
            <a:ext cx="80467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Text 13"/>
          <p:cNvSpPr/>
          <p:nvPr/>
        </p:nvSpPr>
        <p:spPr>
          <a:xfrm>
            <a:off x="822960" y="3200400"/>
            <a:ext cx="3657600" cy="320040"/>
          </a:xfrm>
          <a:prstGeom prst="rect">
            <a:avLst/>
          </a:prstGeom>
          <a:noFill/>
          <a:ln/>
        </p:spPr>
        <p:txBody>
          <a:bodyPr wrap="square" lIns="0" tIns="0" rIns="0" bIns="0" rtlCol="0" anchor="ctr"/>
          <a:lstStyle/>
          <a:p>
            <a:pPr indent="0" marL="0">
              <a:buNone/>
            </a:pPr>
            <a:r>
              <a:rPr lang="en-US" sz="1500" b="1" dirty="0">
                <a:solidFill>
                  <a:srgbClr val="1E2761"/>
                </a:solidFill>
              </a:rPr>
              <a:t>Implementation Details</a:t>
            </a:r>
            <a:endParaRPr lang="en-US" sz="1500" dirty="0"/>
          </a:p>
        </p:txBody>
      </p:sp>
      <p:sp>
        <p:nvSpPr>
          <p:cNvPr id="16" name="Text 14"/>
          <p:cNvSpPr/>
          <p:nvPr/>
        </p:nvSpPr>
        <p:spPr>
          <a:xfrm>
            <a:off x="822960" y="3566160"/>
            <a:ext cx="7498080" cy="1097280"/>
          </a:xfrm>
          <a:prstGeom prst="rect">
            <a:avLst/>
          </a:prstGeom>
          <a:noFill/>
          <a:ln/>
        </p:spPr>
        <p:txBody>
          <a:bodyPr wrap="square" rtlCol="0" anchor="t"/>
          <a:lstStyle/>
          <a:p>
            <a:pPr marL="342900" indent="-342900">
              <a:buSzPct val="100000"/>
              <a:buChar char="•"/>
            </a:pPr>
            <a:r>
              <a:rPr lang="en-US" sz="1300" dirty="0">
                <a:solidFill>
                  <a:srgbClr val="1E293B"/>
                </a:solidFill>
              </a:rPr>
              <a:t>Robust orientation predicates using long double precision arithmetic</a:t>
            </a:r>
            <a:endParaRPr lang="en-US" sz="1300" dirty="0"/>
          </a:p>
          <a:p>
            <a:pPr marL="342900" indent="-342900">
              <a:buSzPct val="100000"/>
              <a:buChar char="•"/>
            </a:pPr>
            <a:r>
              <a:rPr lang="en-US" sz="1300" dirty="0">
                <a:solidFill>
                  <a:srgbClr val="1E293B"/>
                </a:solidFill>
              </a:rPr>
              <a:t>Collinear overlap detection for near-degenerate edge cases</a:t>
            </a:r>
            <a:endParaRPr lang="en-US" sz="1300" dirty="0"/>
          </a:p>
          <a:p>
            <a:pPr marL="342900" indent="-342900">
              <a:buSzPct val="100000"/>
              <a:buChar char="•"/>
            </a:pPr>
            <a:r>
              <a:rPr lang="en-US" sz="1300" dirty="0">
                <a:solidFill>
                  <a:srgbClr val="1E293B"/>
                </a:solidFill>
              </a:rPr>
              <a:t>Spatial grid accelerates both same-ring and cross-ring queries</a:t>
            </a:r>
            <a:endParaRPr lang="en-US" sz="1300" dirty="0"/>
          </a:p>
          <a:p>
            <a:pPr marL="342900" indent="-342900">
              <a:buSzPct val="100000"/>
              <a:buChar char="•"/>
            </a:pPr>
            <a:r>
              <a:rPr lang="en-US" sz="1300" dirty="0">
                <a:solidFill>
                  <a:srgbClr val="1E293B"/>
                </a:solidFill>
              </a:rPr>
              <a:t>If any intersection detected → skip candidate, pop next from heap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Results: Time Complexity</a:t>
            </a:r>
            <a:endParaRPr lang="en-US" sz="3200" dirty="0"/>
          </a:p>
        </p:txBody>
      </p:sp>
      <p:sp>
        <p:nvSpPr>
          <p:cNvPr id="3" name="Shape 1"/>
          <p:cNvSpPr/>
          <p:nvPr/>
        </p:nvSpPr>
        <p:spPr>
          <a:xfrm>
            <a:off x="731520" y="960120"/>
            <a:ext cx="1097280" cy="45720"/>
          </a:xfrm>
          <a:prstGeom prst="rect">
            <a:avLst/>
          </a:prstGeom>
          <a:solidFill>
            <a:srgbClr val="3B82F6"/>
          </a:solidFill>
          <a:ln/>
        </p:spPr>
      </p:sp>
      <p:pic>
        <p:nvPicPr>
          <p:cNvPr id="4" name="Image 0" descr="C:\Users\isaac\Documents\GitHub\Data-Structure-Digipen-Project\Project 2\benchmark\figures\fig1_time_vs_n.png">    </p:cNvPr>
          <p:cNvPicPr>
            <a:picLocks noChangeAspect="1"/>
          </p:cNvPicPr>
          <p:nvPr/>
        </p:nvPicPr>
        <p:blipFill>
          <a:blip r:embed="rId1"/>
          <a:srcRect l="0" r="0" t="0" b="0"/>
          <a:stretch/>
        </p:blipFill>
        <p:spPr>
          <a:xfrm>
            <a:off x="274320" y="1097280"/>
            <a:ext cx="5029200" cy="3657600"/>
          </a:xfrm>
          <a:prstGeom prst="rect">
            <a:avLst/>
          </a:prstGeom>
        </p:spPr>
      </p:pic>
      <p:sp>
        <p:nvSpPr>
          <p:cNvPr id="5" name="Shape 2"/>
          <p:cNvSpPr/>
          <p:nvPr/>
        </p:nvSpPr>
        <p:spPr>
          <a:xfrm>
            <a:off x="5486400" y="1097280"/>
            <a:ext cx="3383280" cy="3657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Text 3"/>
          <p:cNvSpPr/>
          <p:nvPr/>
        </p:nvSpPr>
        <p:spPr>
          <a:xfrm>
            <a:off x="5669280" y="1234440"/>
            <a:ext cx="3017520" cy="320040"/>
          </a:xfrm>
          <a:prstGeom prst="rect">
            <a:avLst/>
          </a:prstGeom>
          <a:noFill/>
          <a:ln/>
        </p:spPr>
        <p:txBody>
          <a:bodyPr wrap="square" lIns="0" tIns="0" rIns="0" bIns="0" rtlCol="0" anchor="ctr"/>
          <a:lstStyle/>
          <a:p>
            <a:pPr indent="0" marL="0">
              <a:buNone/>
            </a:pPr>
            <a:r>
              <a:rPr lang="en-US" sz="1600" b="1" dirty="0">
                <a:solidFill>
                  <a:srgbClr val="1E2761"/>
                </a:solidFill>
              </a:rPr>
              <a:t>Key Findings</a:t>
            </a:r>
            <a:endParaRPr lang="en-US" sz="1600" dirty="0"/>
          </a:p>
        </p:txBody>
      </p:sp>
      <p:sp>
        <p:nvSpPr>
          <p:cNvPr id="7" name="Text 4"/>
          <p:cNvSpPr/>
          <p:nvPr/>
        </p:nvSpPr>
        <p:spPr>
          <a:xfrm>
            <a:off x="5669280" y="1645920"/>
            <a:ext cx="3017520" cy="548640"/>
          </a:xfrm>
          <a:prstGeom prst="rect">
            <a:avLst/>
          </a:prstGeom>
          <a:noFill/>
          <a:ln/>
        </p:spPr>
        <p:txBody>
          <a:bodyPr wrap="square" lIns="0" tIns="0" rIns="0" bIns="0" rtlCol="0" anchor="ctr"/>
          <a:lstStyle/>
          <a:p>
            <a:pPr algn="ctr" indent="0" marL="0">
              <a:buNone/>
            </a:pPr>
            <a:r>
              <a:rPr lang="en-US" sz="3200" b="1" dirty="0">
                <a:solidFill>
                  <a:srgbClr val="3B82F6"/>
                </a:solidFill>
              </a:rPr>
              <a:t>O(n√n)</a:t>
            </a:r>
            <a:endParaRPr lang="en-US" sz="3200" dirty="0"/>
          </a:p>
        </p:txBody>
      </p:sp>
      <p:sp>
        <p:nvSpPr>
          <p:cNvPr id="8" name="Text 5"/>
          <p:cNvSpPr/>
          <p:nvPr/>
        </p:nvSpPr>
        <p:spPr>
          <a:xfrm>
            <a:off x="5669280" y="2148840"/>
            <a:ext cx="3017520" cy="274320"/>
          </a:xfrm>
          <a:prstGeom prst="rect">
            <a:avLst/>
          </a:prstGeom>
          <a:noFill/>
          <a:ln/>
        </p:spPr>
        <p:txBody>
          <a:bodyPr wrap="square" lIns="0" tIns="0" rIns="0" bIns="0" rtlCol="0" anchor="ctr"/>
          <a:lstStyle/>
          <a:p>
            <a:pPr algn="ctr" indent="0" marL="0">
              <a:buNone/>
            </a:pPr>
            <a:r>
              <a:rPr lang="en-US" sz="1400" dirty="0">
                <a:solidFill>
                  <a:srgbClr val="64748B"/>
                </a:solidFill>
              </a:rPr>
              <a:t>R² = 0.9989</a:t>
            </a:r>
            <a:endParaRPr lang="en-US" sz="1400" dirty="0"/>
          </a:p>
        </p:txBody>
      </p:sp>
      <p:sp>
        <p:nvSpPr>
          <p:cNvPr id="9" name="Text 6"/>
          <p:cNvSpPr/>
          <p:nvPr/>
        </p:nvSpPr>
        <p:spPr>
          <a:xfrm>
            <a:off x="5760720" y="2377440"/>
            <a:ext cx="2834640" cy="2194560"/>
          </a:xfrm>
          <a:prstGeom prst="rect">
            <a:avLst/>
          </a:prstGeom>
          <a:noFill/>
          <a:ln/>
        </p:spPr>
        <p:txBody>
          <a:bodyPr wrap="square" rtlCol="0" anchor="t"/>
          <a:lstStyle/>
          <a:p>
            <a:pPr indent="0" marL="0">
              <a:buNone/>
            </a:pPr>
            <a:endParaRPr lang="en-US" sz="600" dirty="0"/>
          </a:p>
          <a:p>
            <a:pPr indent="0" marL="0">
              <a:buNone/>
            </a:pPr>
            <a:r>
              <a:rPr lang="en-US" sz="1200" dirty="0">
                <a:solidFill>
                  <a:srgbClr val="1E293B"/>
                </a:solidFill>
              </a:rPr>
              <a:t>n = 50:  0.044 ms</a:t>
            </a:r>
            <a:endParaRPr lang="en-US" sz="600" dirty="0"/>
          </a:p>
          <a:p>
            <a:pPr indent="0" marL="0">
              <a:buNone/>
            </a:pPr>
            <a:r>
              <a:rPr lang="en-US" sz="1200" dirty="0">
                <a:solidFill>
                  <a:srgbClr val="1E293B"/>
                </a:solidFill>
              </a:rPr>
              <a:t>n = 12,800:  21.4 ms</a:t>
            </a:r>
            <a:endParaRPr lang="en-US" sz="600" dirty="0"/>
          </a:p>
          <a:p>
            <a:pPr indent="0" marL="0">
              <a:buNone/>
            </a:pPr>
            <a:endParaRPr lang="en-US" sz="600" dirty="0"/>
          </a:p>
          <a:p>
            <a:pPr indent="0" marL="0">
              <a:buNone/>
            </a:pPr>
            <a:r>
              <a:rPr lang="en-US" sz="1200" b="1" dirty="0">
                <a:solidFill>
                  <a:srgbClr val="1E2761"/>
                </a:solidFill>
              </a:rPr>
              <a:t>Matches theory:</a:t>
            </a:r>
            <a:endParaRPr lang="en-US" sz="600" dirty="0"/>
          </a:p>
          <a:p>
            <a:pPr indent="0" marL="0">
              <a:buNone/>
            </a:pPr>
            <a:r>
              <a:rPr lang="en-US" sz="1200" dirty="0">
                <a:solidFill>
                  <a:srgbClr val="64748B"/>
                </a:solidFill>
              </a:rPr>
              <a:t>O(n) collapses × O(√n)</a:t>
            </a:r>
            <a:endParaRPr lang="en-US" sz="600" dirty="0"/>
          </a:p>
          <a:p>
            <a:pPr indent="0" marL="0">
              <a:buNone/>
            </a:pPr>
            <a:r>
              <a:rPr lang="en-US" sz="1200" dirty="0">
                <a:solidFill>
                  <a:srgbClr val="64748B"/>
                </a:solidFill>
              </a:rPr>
              <a:t>spatial query each</a:t>
            </a:r>
            <a:endParaRPr lang="en-US" sz="600" dirty="0"/>
          </a:p>
          <a:p>
            <a:pPr indent="0" marL="0">
              <a:buNone/>
            </a:pPr>
            <a:endParaRPr lang="en-US" sz="600" dirty="0"/>
          </a:p>
          <a:p>
            <a:pPr indent="0" marL="0">
              <a:buNone/>
            </a:pPr>
            <a:r>
              <a:rPr lang="en-US" sz="1100" i="1" dirty="0">
                <a:solidFill>
                  <a:srgbClr val="64748B"/>
                </a:solidFill>
              </a:rPr>
              <a:t>O(n log n) fits well too</a:t>
            </a:r>
            <a:endParaRPr lang="en-US" sz="600" dirty="0"/>
          </a:p>
          <a:p>
            <a:pPr indent="0" marL="0">
              <a:buNone/>
            </a:pPr>
            <a:r>
              <a:rPr lang="en-US" sz="1100" i="1" dirty="0">
                <a:solidFill>
                  <a:srgbClr val="64748B"/>
                </a:solidFill>
              </a:rPr>
              <a:t>(R² = 0.991) but √n</a:t>
            </a:r>
            <a:endParaRPr lang="en-US" sz="600" dirty="0"/>
          </a:p>
          <a:p>
            <a:pPr indent="0" marL="0">
              <a:buNone/>
            </a:pPr>
            <a:r>
              <a:rPr lang="en-US" sz="1100" i="1" dirty="0">
                <a:solidFill>
                  <a:srgbClr val="64748B"/>
                </a:solidFill>
              </a:rPr>
              <a:t>dominates at this scale</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Results: Memory Usage</a:t>
            </a:r>
            <a:endParaRPr lang="en-US" sz="3200" dirty="0"/>
          </a:p>
        </p:txBody>
      </p:sp>
      <p:sp>
        <p:nvSpPr>
          <p:cNvPr id="3" name="Shape 1"/>
          <p:cNvSpPr/>
          <p:nvPr/>
        </p:nvSpPr>
        <p:spPr>
          <a:xfrm>
            <a:off x="731520" y="960120"/>
            <a:ext cx="1097280" cy="45720"/>
          </a:xfrm>
          <a:prstGeom prst="rect">
            <a:avLst/>
          </a:prstGeom>
          <a:solidFill>
            <a:srgbClr val="3B82F6"/>
          </a:solidFill>
          <a:ln/>
        </p:spPr>
      </p:sp>
      <p:pic>
        <p:nvPicPr>
          <p:cNvPr id="4" name="Image 0" descr="C:\Users\isaac\Documents\GitHub\Data-Structure-Digipen-Project\Project 2\benchmark\figures\fig2_memory_vs_n.png">    </p:cNvPr>
          <p:cNvPicPr>
            <a:picLocks noChangeAspect="1"/>
          </p:cNvPicPr>
          <p:nvPr/>
        </p:nvPicPr>
        <p:blipFill>
          <a:blip r:embed="rId1"/>
          <a:srcRect l="0" r="0" t="0" b="0"/>
          <a:stretch/>
        </p:blipFill>
        <p:spPr>
          <a:xfrm>
            <a:off x="274320" y="1097280"/>
            <a:ext cx="5029200" cy="3657600"/>
          </a:xfrm>
          <a:prstGeom prst="rect">
            <a:avLst/>
          </a:prstGeom>
        </p:spPr>
      </p:pic>
      <p:sp>
        <p:nvSpPr>
          <p:cNvPr id="5" name="Shape 2"/>
          <p:cNvSpPr/>
          <p:nvPr/>
        </p:nvSpPr>
        <p:spPr>
          <a:xfrm>
            <a:off x="5486400" y="1097280"/>
            <a:ext cx="3383280" cy="3657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Text 3"/>
          <p:cNvSpPr/>
          <p:nvPr/>
        </p:nvSpPr>
        <p:spPr>
          <a:xfrm>
            <a:off x="5669280" y="1234440"/>
            <a:ext cx="3017520" cy="320040"/>
          </a:xfrm>
          <a:prstGeom prst="rect">
            <a:avLst/>
          </a:prstGeom>
          <a:noFill/>
          <a:ln/>
        </p:spPr>
        <p:txBody>
          <a:bodyPr wrap="square" lIns="0" tIns="0" rIns="0" bIns="0" rtlCol="0" anchor="ctr"/>
          <a:lstStyle/>
          <a:p>
            <a:pPr indent="0" marL="0">
              <a:buNone/>
            </a:pPr>
            <a:r>
              <a:rPr lang="en-US" sz="1600" b="1" dirty="0">
                <a:solidFill>
                  <a:srgbClr val="1E2761"/>
                </a:solidFill>
              </a:rPr>
              <a:t>Key Findings</a:t>
            </a:r>
            <a:endParaRPr lang="en-US" sz="1600" dirty="0"/>
          </a:p>
        </p:txBody>
      </p:sp>
      <p:sp>
        <p:nvSpPr>
          <p:cNvPr id="7" name="Text 4"/>
          <p:cNvSpPr/>
          <p:nvPr/>
        </p:nvSpPr>
        <p:spPr>
          <a:xfrm>
            <a:off x="5669280" y="1645920"/>
            <a:ext cx="3017520" cy="548640"/>
          </a:xfrm>
          <a:prstGeom prst="rect">
            <a:avLst/>
          </a:prstGeom>
          <a:noFill/>
          <a:ln/>
        </p:spPr>
        <p:txBody>
          <a:bodyPr wrap="square" lIns="0" tIns="0" rIns="0" bIns="0" rtlCol="0" anchor="ctr"/>
          <a:lstStyle/>
          <a:p>
            <a:pPr algn="ctr" indent="0" marL="0">
              <a:buNone/>
            </a:pPr>
            <a:r>
              <a:rPr lang="en-US" sz="3600" b="1" dirty="0">
                <a:solidFill>
                  <a:srgbClr val="3B82F6"/>
                </a:solidFill>
              </a:rPr>
              <a:t>7.8 MiB</a:t>
            </a:r>
            <a:endParaRPr lang="en-US" sz="3600" dirty="0"/>
          </a:p>
        </p:txBody>
      </p:sp>
      <p:sp>
        <p:nvSpPr>
          <p:cNvPr id="8" name="Text 5"/>
          <p:cNvSpPr/>
          <p:nvPr/>
        </p:nvSpPr>
        <p:spPr>
          <a:xfrm>
            <a:off x="5669280" y="2148840"/>
            <a:ext cx="3017520" cy="274320"/>
          </a:xfrm>
          <a:prstGeom prst="rect">
            <a:avLst/>
          </a:prstGeom>
          <a:noFill/>
          <a:ln/>
        </p:spPr>
        <p:txBody>
          <a:bodyPr wrap="square" lIns="0" tIns="0" rIns="0" bIns="0" rtlCol="0" anchor="ctr"/>
          <a:lstStyle/>
          <a:p>
            <a:pPr algn="ctr" indent="0" marL="0">
              <a:buNone/>
            </a:pPr>
            <a:r>
              <a:rPr lang="en-US" sz="1300" dirty="0">
                <a:solidFill>
                  <a:srgbClr val="64748B"/>
                </a:solidFill>
              </a:rPr>
              <a:t>peak at n = 12,800</a:t>
            </a:r>
            <a:endParaRPr lang="en-US" sz="1300" dirty="0"/>
          </a:p>
        </p:txBody>
      </p:sp>
      <p:sp>
        <p:nvSpPr>
          <p:cNvPr id="9" name="Text 6"/>
          <p:cNvSpPr/>
          <p:nvPr/>
        </p:nvSpPr>
        <p:spPr>
          <a:xfrm>
            <a:off x="5760720" y="2377440"/>
            <a:ext cx="2834640" cy="2011680"/>
          </a:xfrm>
          <a:prstGeom prst="rect">
            <a:avLst/>
          </a:prstGeom>
          <a:noFill/>
          <a:ln/>
        </p:spPr>
        <p:txBody>
          <a:bodyPr wrap="square" rtlCol="0" anchor="t"/>
          <a:lstStyle/>
          <a:p>
            <a:pPr indent="0" marL="0">
              <a:buNone/>
            </a:pPr>
            <a:endParaRPr lang="en-US" sz="600" dirty="0"/>
          </a:p>
          <a:p>
            <a:pPr indent="0" marL="0">
              <a:buNone/>
            </a:pPr>
            <a:r>
              <a:rPr lang="en-US" sz="1300" b="1" dirty="0">
                <a:solidFill>
                  <a:srgbClr val="1E2761"/>
                </a:solidFill>
              </a:rPr>
              <a:t>Near-linear growth</a:t>
            </a:r>
            <a:endParaRPr lang="en-US" sz="600" dirty="0"/>
          </a:p>
          <a:p>
            <a:pPr indent="0" marL="0">
              <a:buNone/>
            </a:pPr>
            <a:r>
              <a:rPr lang="en-US" sz="1200" dirty="0">
                <a:solidFill>
                  <a:srgbClr val="1E293B"/>
                </a:solidFill>
              </a:rPr>
              <a:t>3.5 MiB baseline (runtime overhead)</a:t>
            </a:r>
            <a:endParaRPr lang="en-US" sz="600" dirty="0"/>
          </a:p>
          <a:p>
            <a:pPr indent="0" marL="0">
              <a:buNone/>
            </a:pPr>
            <a:r>
              <a:rPr lang="en-US" sz="1200" dirty="0">
                <a:solidFill>
                  <a:srgbClr val="1E293B"/>
                </a:solidFill>
              </a:rPr>
              <a:t>Only 2.2× increase for 256× more vertices</a:t>
            </a:r>
            <a:endParaRPr lang="en-US" sz="600" dirty="0"/>
          </a:p>
          <a:p>
            <a:pPr indent="0" marL="0">
              <a:buNone/>
            </a:pPr>
            <a:endParaRPr lang="en-US" sz="600" dirty="0"/>
          </a:p>
          <a:p>
            <a:pPr indent="0" marL="0">
              <a:buNone/>
            </a:pPr>
            <a:r>
              <a:rPr lang="en-US" sz="1200" dirty="0">
                <a:solidFill>
                  <a:srgbClr val="64748B"/>
                </a:solidFill>
              </a:rPr>
              <a:t>Theoretical: O(n)</a:t>
            </a:r>
            <a:endParaRPr lang="en-US" sz="600" dirty="0"/>
          </a:p>
          <a:p>
            <a:pPr indent="0" marL="0">
              <a:buNone/>
            </a:pPr>
            <a:r>
              <a:rPr lang="en-US" sz="1200" i="1" dirty="0">
                <a:solidFill>
                  <a:srgbClr val="64748B"/>
                </a:solidFill>
              </a:rPr>
              <a:t>Practical on any modern machine</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Results: Areal Displacement vs. Target</a:t>
            </a:r>
            <a:endParaRPr lang="en-US" sz="2800" dirty="0"/>
          </a:p>
        </p:txBody>
      </p:sp>
      <p:sp>
        <p:nvSpPr>
          <p:cNvPr id="3" name="Shape 1"/>
          <p:cNvSpPr/>
          <p:nvPr/>
        </p:nvSpPr>
        <p:spPr>
          <a:xfrm>
            <a:off x="731520" y="960120"/>
            <a:ext cx="1097280" cy="45720"/>
          </a:xfrm>
          <a:prstGeom prst="rect">
            <a:avLst/>
          </a:prstGeom>
          <a:solidFill>
            <a:srgbClr val="3B82F6"/>
          </a:solidFill>
          <a:ln/>
        </p:spPr>
      </p:sp>
      <p:pic>
        <p:nvPicPr>
          <p:cNvPr id="4" name="Image 0" descr="C:\Users\isaac\Documents\GitHub\Data-Structure-Digipen-Project\Project 2\benchmark\figures\fig3_displacement_vs_target.png">    </p:cNvPr>
          <p:cNvPicPr>
            <a:picLocks noChangeAspect="1"/>
          </p:cNvPicPr>
          <p:nvPr/>
        </p:nvPicPr>
        <p:blipFill>
          <a:blip r:embed="rId1"/>
          <a:srcRect l="0" r="0" t="0" b="0"/>
          <a:stretch/>
        </p:blipFill>
        <p:spPr>
          <a:xfrm>
            <a:off x="274320" y="1097280"/>
            <a:ext cx="5029200" cy="3657600"/>
          </a:xfrm>
          <a:prstGeom prst="rect">
            <a:avLst/>
          </a:prstGeom>
        </p:spPr>
      </p:pic>
      <p:sp>
        <p:nvSpPr>
          <p:cNvPr id="5" name="Shape 2"/>
          <p:cNvSpPr/>
          <p:nvPr/>
        </p:nvSpPr>
        <p:spPr>
          <a:xfrm>
            <a:off x="5486400" y="1097280"/>
            <a:ext cx="3383280" cy="3657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Text 3"/>
          <p:cNvSpPr/>
          <p:nvPr/>
        </p:nvSpPr>
        <p:spPr>
          <a:xfrm>
            <a:off x="5669280" y="1234440"/>
            <a:ext cx="3017520" cy="320040"/>
          </a:xfrm>
          <a:prstGeom prst="rect">
            <a:avLst/>
          </a:prstGeom>
          <a:noFill/>
          <a:ln/>
        </p:spPr>
        <p:txBody>
          <a:bodyPr wrap="square" lIns="0" tIns="0" rIns="0" bIns="0" rtlCol="0" anchor="ctr"/>
          <a:lstStyle/>
          <a:p>
            <a:pPr indent="0" marL="0">
              <a:buNone/>
            </a:pPr>
            <a:r>
              <a:rPr lang="en-US" sz="1600" b="1" dirty="0">
                <a:solidFill>
                  <a:srgbClr val="1E2761"/>
                </a:solidFill>
              </a:rPr>
              <a:t>Observations</a:t>
            </a:r>
            <a:endParaRPr lang="en-US" sz="1600" dirty="0"/>
          </a:p>
        </p:txBody>
      </p:sp>
      <p:sp>
        <p:nvSpPr>
          <p:cNvPr id="7" name="Text 4"/>
          <p:cNvSpPr/>
          <p:nvPr/>
        </p:nvSpPr>
        <p:spPr>
          <a:xfrm>
            <a:off x="5760720" y="1600200"/>
            <a:ext cx="2834640" cy="2926080"/>
          </a:xfrm>
          <a:prstGeom prst="rect">
            <a:avLst/>
          </a:prstGeom>
          <a:noFill/>
          <a:ln/>
        </p:spPr>
        <p:txBody>
          <a:bodyPr wrap="square" rtlCol="0" anchor="t"/>
          <a:lstStyle/>
          <a:p>
            <a:pPr indent="0" marL="0">
              <a:buNone/>
            </a:pPr>
            <a:r>
              <a:rPr lang="en-US" sz="1300" b="1" dirty="0">
                <a:solidFill>
                  <a:srgbClr val="3B82F6"/>
                </a:solidFill>
              </a:rPr>
              <a:t>Near-lossless regime</a:t>
            </a:r>
            <a:endParaRPr lang="en-US" sz="1300" dirty="0"/>
          </a:p>
          <a:p>
            <a:pPr indent="0" marL="0">
              <a:buNone/>
            </a:pPr>
            <a:r>
              <a:rPr lang="en-US" sz="1200" dirty="0">
                <a:solidFill>
                  <a:srgbClr val="1E293B"/>
                </a:solidFill>
              </a:rPr>
              <a:t>Removing &lt;30% of vertices:</a:t>
            </a:r>
            <a:endParaRPr lang="en-US" sz="1300" dirty="0"/>
          </a:p>
          <a:p>
            <a:pPr indent="0" marL="0">
              <a:buNone/>
            </a:pPr>
            <a:r>
              <a:rPr lang="en-US" sz="1200" dirty="0">
                <a:solidFill>
                  <a:srgbClr val="1E293B"/>
                </a:solidFill>
              </a:rPr>
              <a:t>displacement stays very low</a:t>
            </a:r>
            <a:endParaRPr lang="en-US" sz="1300" dirty="0"/>
          </a:p>
          <a:p>
            <a:pPr indent="0" marL="0">
              <a:buNone/>
            </a:pPr>
            <a:endParaRPr lang="en-US" sz="1300" dirty="0"/>
          </a:p>
          <a:p>
            <a:pPr indent="0" marL="0">
              <a:buNone/>
            </a:pPr>
            <a:r>
              <a:rPr lang="en-US" sz="1300" b="1" dirty="0">
                <a:solidFill>
                  <a:srgbClr val="3B82F6"/>
                </a:solidFill>
              </a:rPr>
              <a:t>Knee of the curve</a:t>
            </a:r>
            <a:endParaRPr lang="en-US" sz="1300" dirty="0"/>
          </a:p>
          <a:p>
            <a:pPr indent="0" marL="0">
              <a:buNone/>
            </a:pPr>
            <a:r>
              <a:rPr lang="en-US" sz="1200" dirty="0">
                <a:solidFill>
                  <a:srgbClr val="1E293B"/>
                </a:solidFill>
              </a:rPr>
              <a:t>Around 40% of original count,</a:t>
            </a:r>
            <a:endParaRPr lang="en-US" sz="1300" dirty="0"/>
          </a:p>
          <a:p>
            <a:pPr indent="0" marL="0">
              <a:buNone/>
            </a:pPr>
            <a:r>
              <a:rPr lang="en-US" sz="1200" dirty="0">
                <a:solidFill>
                  <a:srgbClr val="1E293B"/>
                </a:solidFill>
              </a:rPr>
              <a:t>cost per step rises sharply</a:t>
            </a:r>
            <a:endParaRPr lang="en-US" sz="1300" dirty="0"/>
          </a:p>
          <a:p>
            <a:pPr indent="0" marL="0">
              <a:buNone/>
            </a:pPr>
            <a:endParaRPr lang="en-US" sz="1300" dirty="0"/>
          </a:p>
          <a:p>
            <a:pPr indent="0" marL="0">
              <a:buNone/>
            </a:pPr>
            <a:r>
              <a:rPr lang="en-US" sz="1300" b="1" dirty="0">
                <a:solidFill>
                  <a:srgbClr val="3B82F6"/>
                </a:solidFill>
              </a:rPr>
              <a:t>Aggressive removal</a:t>
            </a:r>
            <a:endParaRPr lang="en-US" sz="1300" dirty="0"/>
          </a:p>
          <a:p>
            <a:pPr indent="0" marL="0">
              <a:buNone/>
            </a:pPr>
            <a:r>
              <a:rPr lang="en-US" sz="1200" dirty="0">
                <a:solidFill>
                  <a:srgbClr val="1E293B"/>
                </a:solidFill>
              </a:rPr>
              <a:t>90% removal: 271× more</a:t>
            </a:r>
            <a:endParaRPr lang="en-US" sz="1300" dirty="0"/>
          </a:p>
          <a:p>
            <a:pPr indent="0" marL="0">
              <a:buNone/>
            </a:pPr>
            <a:r>
              <a:rPr lang="en-US" sz="1200" dirty="0">
                <a:solidFill>
                  <a:srgbClr val="1E293B"/>
                </a:solidFill>
              </a:rPr>
              <a:t>displacement than 10% removal</a:t>
            </a:r>
            <a:endParaRPr lang="en-US" sz="1300" dirty="0"/>
          </a:p>
          <a:p>
            <a:pPr indent="0" marL="0">
              <a:buNone/>
            </a:pPr>
            <a:endParaRPr lang="en-US" sz="1300" dirty="0"/>
          </a:p>
          <a:p>
            <a:pPr indent="0" marL="0">
              <a:buNone/>
            </a:pPr>
            <a:r>
              <a:rPr lang="en-US" sz="1300" b="1" dirty="0">
                <a:solidFill>
                  <a:srgbClr val="1E2761"/>
                </a:solidFill>
              </a:rPr>
              <a:t>Area preserved exactly</a:t>
            </a:r>
            <a:endParaRPr lang="en-US" sz="1300" dirty="0"/>
          </a:p>
          <a:p>
            <a:pPr indent="0" marL="0">
              <a:buNone/>
            </a:pPr>
            <a:r>
              <a:rPr lang="en-US" sz="1300" b="1" dirty="0">
                <a:solidFill>
                  <a:srgbClr val="1E2761"/>
                </a:solidFill>
              </a:rPr>
              <a:t>in all tested cases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3FA"/>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Stress Tests</a:t>
            </a:r>
            <a:endParaRPr lang="en-US" sz="3200" dirty="0"/>
          </a:p>
        </p:txBody>
      </p:sp>
      <p:sp>
        <p:nvSpPr>
          <p:cNvPr id="3" name="Shape 1"/>
          <p:cNvSpPr/>
          <p:nvPr/>
        </p:nvSpPr>
        <p:spPr>
          <a:xfrm>
            <a:off x="731520" y="960120"/>
            <a:ext cx="1097280" cy="45720"/>
          </a:xfrm>
          <a:prstGeom prst="rect">
            <a:avLst/>
          </a:prstGeom>
          <a:solidFill>
            <a:srgbClr val="3B82F6"/>
          </a:solidFill>
          <a:ln/>
        </p:spPr>
      </p:sp>
      <p:pic>
        <p:nvPicPr>
          <p:cNvPr id="4" name="Image 0" descr="C:\Users\isaac\Documents\GitHub\Data-Structure-Digipen-Project\Project 2\benchmark\figures\fig4_stress_tests.png">    </p:cNvPr>
          <p:cNvPicPr>
            <a:picLocks noChangeAspect="1"/>
          </p:cNvPicPr>
          <p:nvPr/>
        </p:nvPicPr>
        <p:blipFill>
          <a:blip r:embed="rId1"/>
          <a:srcRect l="0" r="0" t="0" b="0"/>
          <a:stretch/>
        </p:blipFill>
        <p:spPr>
          <a:xfrm>
            <a:off x="274320" y="1097280"/>
            <a:ext cx="5029200" cy="3657600"/>
          </a:xfrm>
          <a:prstGeom prst="rect">
            <a:avLst/>
          </a:prstGeom>
        </p:spPr>
      </p:pic>
      <p:sp>
        <p:nvSpPr>
          <p:cNvPr id="5" name="Shape 2"/>
          <p:cNvSpPr/>
          <p:nvPr/>
        </p:nvSpPr>
        <p:spPr>
          <a:xfrm>
            <a:off x="5486400" y="1097280"/>
            <a:ext cx="338328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3"/>
          <p:cNvSpPr/>
          <p:nvPr/>
        </p:nvSpPr>
        <p:spPr>
          <a:xfrm>
            <a:off x="5486400" y="1097280"/>
            <a:ext cx="64008" cy="1097280"/>
          </a:xfrm>
          <a:prstGeom prst="rect">
            <a:avLst/>
          </a:prstGeom>
          <a:solidFill>
            <a:srgbClr val="3B82F6"/>
          </a:solidFill>
          <a:ln/>
        </p:spPr>
      </p:sp>
      <p:sp>
        <p:nvSpPr>
          <p:cNvPr id="7" name="Text 4"/>
          <p:cNvSpPr/>
          <p:nvPr/>
        </p:nvSpPr>
        <p:spPr>
          <a:xfrm>
            <a:off x="5715000" y="1188720"/>
            <a:ext cx="3017520" cy="274320"/>
          </a:xfrm>
          <a:prstGeom prst="rect">
            <a:avLst/>
          </a:prstGeom>
          <a:noFill/>
          <a:ln/>
        </p:spPr>
        <p:txBody>
          <a:bodyPr wrap="square" lIns="0" tIns="0" rIns="0" bIns="0" rtlCol="0" anchor="ctr"/>
          <a:lstStyle/>
          <a:p>
            <a:pPr indent="0" marL="0">
              <a:buNone/>
            </a:pPr>
            <a:r>
              <a:rPr lang="en-US" sz="1300" b="1" dirty="0">
                <a:solidFill>
                  <a:srgbClr val="1E2761"/>
                </a:solidFill>
              </a:rPr>
              <a:t>Many Holes (up to 20)</a:t>
            </a:r>
            <a:endParaRPr lang="en-US" sz="1300" dirty="0"/>
          </a:p>
        </p:txBody>
      </p:sp>
      <p:sp>
        <p:nvSpPr>
          <p:cNvPr id="8" name="Text 5"/>
          <p:cNvSpPr/>
          <p:nvPr/>
        </p:nvSpPr>
        <p:spPr>
          <a:xfrm>
            <a:off x="5715000" y="1463040"/>
            <a:ext cx="3017520" cy="548640"/>
          </a:xfrm>
          <a:prstGeom prst="rect">
            <a:avLst/>
          </a:prstGeom>
          <a:noFill/>
          <a:ln/>
        </p:spPr>
        <p:txBody>
          <a:bodyPr wrap="square" lIns="0" tIns="0" rIns="0" bIns="0" rtlCol="0" anchor="ctr"/>
          <a:lstStyle/>
          <a:p>
            <a:pPr indent="0" marL="0">
              <a:buNone/>
            </a:pPr>
            <a:r>
              <a:rPr lang="en-US" sz="1100" dirty="0">
                <a:solidFill>
                  <a:srgbClr val="1E293B"/>
                </a:solidFill>
              </a:rPr>
              <a:t>Sub-linear time growth with hole count.</a:t>
            </a:r>
            <a:endParaRPr lang="en-US" sz="1100" dirty="0"/>
          </a:p>
          <a:p>
            <a:pPr indent="0" marL="0">
              <a:buNone/>
            </a:pPr>
            <a:r>
              <a:rPr lang="en-US" sz="1100" dirty="0">
                <a:solidFill>
                  <a:srgbClr val="1E293B"/>
                </a:solidFill>
              </a:rPr>
              <a:t>20 holes: only 3.4× slower than 1 hole.</a:t>
            </a:r>
            <a:endParaRPr lang="en-US" sz="1100" dirty="0"/>
          </a:p>
        </p:txBody>
      </p:sp>
      <p:sp>
        <p:nvSpPr>
          <p:cNvPr id="9" name="Shape 6"/>
          <p:cNvSpPr/>
          <p:nvPr/>
        </p:nvSpPr>
        <p:spPr>
          <a:xfrm>
            <a:off x="5486400" y="2377440"/>
            <a:ext cx="338328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5486400" y="2377440"/>
            <a:ext cx="64008" cy="1097280"/>
          </a:xfrm>
          <a:prstGeom prst="rect">
            <a:avLst/>
          </a:prstGeom>
          <a:solidFill>
            <a:srgbClr val="3B82F6"/>
          </a:solidFill>
          <a:ln/>
        </p:spPr>
      </p:sp>
      <p:sp>
        <p:nvSpPr>
          <p:cNvPr id="11" name="Text 8"/>
          <p:cNvSpPr/>
          <p:nvPr/>
        </p:nvSpPr>
        <p:spPr>
          <a:xfrm>
            <a:off x="5715000" y="2468880"/>
            <a:ext cx="3017520" cy="274320"/>
          </a:xfrm>
          <a:prstGeom prst="rect">
            <a:avLst/>
          </a:prstGeom>
          <a:noFill/>
          <a:ln/>
        </p:spPr>
        <p:txBody>
          <a:bodyPr wrap="square" lIns="0" tIns="0" rIns="0" bIns="0" rtlCol="0" anchor="ctr"/>
          <a:lstStyle/>
          <a:p>
            <a:pPr indent="0" marL="0">
              <a:buNone/>
            </a:pPr>
            <a:r>
              <a:rPr lang="en-US" sz="1300" b="1" dirty="0">
                <a:solidFill>
                  <a:srgbClr val="1E2761"/>
                </a:solidFill>
              </a:rPr>
              <a:t>Narrow Gaps (down to 0.1 units)</a:t>
            </a:r>
            <a:endParaRPr lang="en-US" sz="1300" dirty="0"/>
          </a:p>
        </p:txBody>
      </p:sp>
      <p:sp>
        <p:nvSpPr>
          <p:cNvPr id="12" name="Text 9"/>
          <p:cNvSpPr/>
          <p:nvPr/>
        </p:nvSpPr>
        <p:spPr>
          <a:xfrm>
            <a:off x="5715000" y="2743200"/>
            <a:ext cx="3017520" cy="548640"/>
          </a:xfrm>
          <a:prstGeom prst="rect">
            <a:avLst/>
          </a:prstGeom>
          <a:noFill/>
          <a:ln/>
        </p:spPr>
        <p:txBody>
          <a:bodyPr wrap="square" lIns="0" tIns="0" rIns="0" bIns="0" rtlCol="0" anchor="ctr"/>
          <a:lstStyle/>
          <a:p>
            <a:pPr indent="0" marL="0">
              <a:buNone/>
            </a:pPr>
            <a:r>
              <a:rPr lang="en-US" sz="1100" dirty="0">
                <a:solidFill>
                  <a:srgbClr val="1E293B"/>
                </a:solidFill>
              </a:rPr>
              <a:t>Constant runtime regardless of gap width.</a:t>
            </a:r>
            <a:endParaRPr lang="en-US" sz="1100" dirty="0"/>
          </a:p>
          <a:p>
            <a:pPr indent="0" marL="0">
              <a:buNone/>
            </a:pPr>
            <a:r>
              <a:rPr lang="en-US" sz="1100" dirty="0">
                <a:solidFill>
                  <a:srgbClr val="1E293B"/>
                </a:solidFill>
              </a:rPr>
              <a:t>Grid cell size is bounding-box based.</a:t>
            </a:r>
            <a:endParaRPr lang="en-US" sz="1100" dirty="0"/>
          </a:p>
        </p:txBody>
      </p:sp>
      <p:sp>
        <p:nvSpPr>
          <p:cNvPr id="13" name="Shape 10"/>
          <p:cNvSpPr/>
          <p:nvPr/>
        </p:nvSpPr>
        <p:spPr>
          <a:xfrm>
            <a:off x="5486400" y="3657600"/>
            <a:ext cx="338328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5486400" y="3657600"/>
            <a:ext cx="64008" cy="1097280"/>
          </a:xfrm>
          <a:prstGeom prst="rect">
            <a:avLst/>
          </a:prstGeom>
          <a:solidFill>
            <a:srgbClr val="3B82F6"/>
          </a:solidFill>
          <a:ln/>
        </p:spPr>
      </p:sp>
      <p:sp>
        <p:nvSpPr>
          <p:cNvPr id="15" name="Text 12"/>
          <p:cNvSpPr/>
          <p:nvPr/>
        </p:nvSpPr>
        <p:spPr>
          <a:xfrm>
            <a:off x="5715000" y="3749040"/>
            <a:ext cx="3017520" cy="274320"/>
          </a:xfrm>
          <a:prstGeom prst="rect">
            <a:avLst/>
          </a:prstGeom>
          <a:noFill/>
          <a:ln/>
        </p:spPr>
        <p:txBody>
          <a:bodyPr wrap="square" lIns="0" tIns="0" rIns="0" bIns="0" rtlCol="0" anchor="ctr"/>
          <a:lstStyle/>
          <a:p>
            <a:pPr indent="0" marL="0">
              <a:buNone/>
            </a:pPr>
            <a:r>
              <a:rPr lang="en-US" sz="1300" b="1" dirty="0">
                <a:solidFill>
                  <a:srgbClr val="1E2761"/>
                </a:solidFill>
              </a:rPr>
              <a:t>Near-Degenerate Shapes</a:t>
            </a:r>
            <a:endParaRPr lang="en-US" sz="1300" dirty="0"/>
          </a:p>
        </p:txBody>
      </p:sp>
      <p:sp>
        <p:nvSpPr>
          <p:cNvPr id="16" name="Text 13"/>
          <p:cNvSpPr/>
          <p:nvPr/>
        </p:nvSpPr>
        <p:spPr>
          <a:xfrm>
            <a:off x="5715000" y="4023360"/>
            <a:ext cx="3017520" cy="548640"/>
          </a:xfrm>
          <a:prstGeom prst="rect">
            <a:avLst/>
          </a:prstGeom>
          <a:noFill/>
          <a:ln/>
        </p:spPr>
        <p:txBody>
          <a:bodyPr wrap="square" lIns="0" tIns="0" rIns="0" bIns="0" rtlCol="0" anchor="ctr"/>
          <a:lstStyle/>
          <a:p>
            <a:pPr indent="0" marL="0">
              <a:buNone/>
            </a:pPr>
            <a:r>
              <a:rPr lang="en-US" sz="1100" dirty="0">
                <a:solidFill>
                  <a:srgbClr val="1E293B"/>
                </a:solidFill>
              </a:rPr>
              <a:t>Comb, zigzag, 50:1 ellipse: all valid.</a:t>
            </a:r>
            <a:endParaRPr lang="en-US" sz="1100" dirty="0"/>
          </a:p>
          <a:p>
            <a:pPr indent="0" marL="0">
              <a:buNone/>
            </a:pPr>
            <a:r>
              <a:rPr lang="en-US" sz="1100" dirty="0">
                <a:solidFill>
                  <a:srgbClr val="1E293B"/>
                </a:solidFill>
              </a:rPr>
              <a:t>Area error &lt; 1×10⁻⁹ in every case.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Summary &amp; Conclusion</a:t>
            </a:r>
            <a:endParaRPr lang="en-US" sz="3200" dirty="0"/>
          </a:p>
        </p:txBody>
      </p:sp>
      <p:sp>
        <p:nvSpPr>
          <p:cNvPr id="4" name="Shape 2"/>
          <p:cNvSpPr/>
          <p:nvPr/>
        </p:nvSpPr>
        <p:spPr>
          <a:xfrm>
            <a:off x="731520" y="1280160"/>
            <a:ext cx="3657600" cy="1097280"/>
          </a:xfrm>
          <a:prstGeom prst="rect">
            <a:avLst/>
          </a:prstGeom>
          <a:solidFill>
            <a:srgbClr val="253575"/>
          </a:solidFill>
          <a:ln/>
        </p:spPr>
      </p:sp>
      <p:sp>
        <p:nvSpPr>
          <p:cNvPr id="5" name="Shape 3"/>
          <p:cNvSpPr/>
          <p:nvPr/>
        </p:nvSpPr>
        <p:spPr>
          <a:xfrm>
            <a:off x="731520" y="1280160"/>
            <a:ext cx="64008" cy="1097280"/>
          </a:xfrm>
          <a:prstGeom prst="rect">
            <a:avLst/>
          </a:prstGeom>
          <a:solidFill>
            <a:srgbClr val="3B82F6"/>
          </a:solidFill>
          <a:ln/>
        </p:spPr>
      </p:sp>
      <p:sp>
        <p:nvSpPr>
          <p:cNvPr id="6" name="Text 4"/>
          <p:cNvSpPr/>
          <p:nvPr/>
        </p:nvSpPr>
        <p:spPr>
          <a:xfrm>
            <a:off x="1005840" y="1463040"/>
            <a:ext cx="3108960" cy="365760"/>
          </a:xfrm>
          <a:prstGeom prst="rect">
            <a:avLst/>
          </a:prstGeom>
          <a:noFill/>
          <a:ln/>
        </p:spPr>
        <p:txBody>
          <a:bodyPr wrap="square" lIns="0" tIns="0" rIns="0" bIns="0" rtlCol="0" anchor="ctr"/>
          <a:lstStyle/>
          <a:p>
            <a:pPr indent="0" marL="0">
              <a:buNone/>
            </a:pPr>
            <a:r>
              <a:rPr lang="en-US" sz="1800" b="1" dirty="0">
                <a:solidFill>
                  <a:srgbClr val="FFFFFF"/>
                </a:solidFill>
              </a:rPr>
              <a:t>O(n√n) Time</a:t>
            </a:r>
            <a:endParaRPr lang="en-US" sz="1800" dirty="0"/>
          </a:p>
        </p:txBody>
      </p:sp>
      <p:sp>
        <p:nvSpPr>
          <p:cNvPr id="7" name="Text 5"/>
          <p:cNvSpPr/>
          <p:nvPr/>
        </p:nvSpPr>
        <p:spPr>
          <a:xfrm>
            <a:off x="1005840" y="1874520"/>
            <a:ext cx="3108960" cy="320040"/>
          </a:xfrm>
          <a:prstGeom prst="rect">
            <a:avLst/>
          </a:prstGeom>
          <a:noFill/>
          <a:ln/>
        </p:spPr>
        <p:txBody>
          <a:bodyPr wrap="square" lIns="0" tIns="0" rIns="0" bIns="0" rtlCol="0" anchor="ctr"/>
          <a:lstStyle/>
          <a:p>
            <a:pPr indent="0" marL="0">
              <a:buNone/>
            </a:pPr>
            <a:r>
              <a:rPr lang="en-US" sz="1400" dirty="0">
                <a:solidFill>
                  <a:srgbClr val="CADCFC"/>
                </a:solidFill>
              </a:rPr>
              <a:t>Min-heap + spatial grid</a:t>
            </a:r>
            <a:endParaRPr lang="en-US" sz="1400" dirty="0"/>
          </a:p>
        </p:txBody>
      </p:sp>
      <p:sp>
        <p:nvSpPr>
          <p:cNvPr id="8" name="Shape 6"/>
          <p:cNvSpPr/>
          <p:nvPr/>
        </p:nvSpPr>
        <p:spPr>
          <a:xfrm>
            <a:off x="4754880" y="1280160"/>
            <a:ext cx="3657600" cy="1097280"/>
          </a:xfrm>
          <a:prstGeom prst="rect">
            <a:avLst/>
          </a:prstGeom>
          <a:solidFill>
            <a:srgbClr val="253575"/>
          </a:solidFill>
          <a:ln/>
        </p:spPr>
      </p:sp>
      <p:sp>
        <p:nvSpPr>
          <p:cNvPr id="9" name="Shape 7"/>
          <p:cNvSpPr/>
          <p:nvPr/>
        </p:nvSpPr>
        <p:spPr>
          <a:xfrm>
            <a:off x="4754880" y="1280160"/>
            <a:ext cx="64008" cy="1097280"/>
          </a:xfrm>
          <a:prstGeom prst="rect">
            <a:avLst/>
          </a:prstGeom>
          <a:solidFill>
            <a:srgbClr val="3B82F6"/>
          </a:solidFill>
          <a:ln/>
        </p:spPr>
      </p:sp>
      <p:sp>
        <p:nvSpPr>
          <p:cNvPr id="10" name="Text 8"/>
          <p:cNvSpPr/>
          <p:nvPr/>
        </p:nvSpPr>
        <p:spPr>
          <a:xfrm>
            <a:off x="5029200" y="1463040"/>
            <a:ext cx="3108960" cy="365760"/>
          </a:xfrm>
          <a:prstGeom prst="rect">
            <a:avLst/>
          </a:prstGeom>
          <a:noFill/>
          <a:ln/>
        </p:spPr>
        <p:txBody>
          <a:bodyPr wrap="square" lIns="0" tIns="0" rIns="0" bIns="0" rtlCol="0" anchor="ctr"/>
          <a:lstStyle/>
          <a:p>
            <a:pPr indent="0" marL="0">
              <a:buNone/>
            </a:pPr>
            <a:r>
              <a:rPr lang="en-US" sz="1800" b="1" dirty="0">
                <a:solidFill>
                  <a:srgbClr val="FFFFFF"/>
                </a:solidFill>
              </a:rPr>
              <a:t>Exact Area</a:t>
            </a:r>
            <a:endParaRPr lang="en-US" sz="1800" dirty="0"/>
          </a:p>
        </p:txBody>
      </p:sp>
      <p:sp>
        <p:nvSpPr>
          <p:cNvPr id="11" name="Text 9"/>
          <p:cNvSpPr/>
          <p:nvPr/>
        </p:nvSpPr>
        <p:spPr>
          <a:xfrm>
            <a:off x="5029200" y="1874520"/>
            <a:ext cx="3108960" cy="320040"/>
          </a:xfrm>
          <a:prstGeom prst="rect">
            <a:avLst/>
          </a:prstGeom>
          <a:noFill/>
          <a:ln/>
        </p:spPr>
        <p:txBody>
          <a:bodyPr wrap="square" lIns="0" tIns="0" rIns="0" bIns="0" rtlCol="0" anchor="ctr"/>
          <a:lstStyle/>
          <a:p>
            <a:pPr indent="0" marL="0">
              <a:buNone/>
            </a:pPr>
            <a:r>
              <a:rPr lang="en-US" sz="1400" dirty="0">
                <a:solidFill>
                  <a:srgbClr val="CADCFC"/>
                </a:solidFill>
              </a:rPr>
              <a:t>Preserved by construction</a:t>
            </a:r>
            <a:endParaRPr lang="en-US" sz="1400" dirty="0"/>
          </a:p>
        </p:txBody>
      </p:sp>
      <p:sp>
        <p:nvSpPr>
          <p:cNvPr id="12" name="Shape 10"/>
          <p:cNvSpPr/>
          <p:nvPr/>
        </p:nvSpPr>
        <p:spPr>
          <a:xfrm>
            <a:off x="731520" y="2651760"/>
            <a:ext cx="3657600" cy="1097280"/>
          </a:xfrm>
          <a:prstGeom prst="rect">
            <a:avLst/>
          </a:prstGeom>
          <a:solidFill>
            <a:srgbClr val="253575"/>
          </a:solidFill>
          <a:ln/>
        </p:spPr>
      </p:sp>
      <p:sp>
        <p:nvSpPr>
          <p:cNvPr id="13" name="Shape 11"/>
          <p:cNvSpPr/>
          <p:nvPr/>
        </p:nvSpPr>
        <p:spPr>
          <a:xfrm>
            <a:off x="731520" y="2651760"/>
            <a:ext cx="64008" cy="1097280"/>
          </a:xfrm>
          <a:prstGeom prst="rect">
            <a:avLst/>
          </a:prstGeom>
          <a:solidFill>
            <a:srgbClr val="3B82F6"/>
          </a:solidFill>
          <a:ln/>
        </p:spPr>
      </p:sp>
      <p:sp>
        <p:nvSpPr>
          <p:cNvPr id="14" name="Text 12"/>
          <p:cNvSpPr/>
          <p:nvPr/>
        </p:nvSpPr>
        <p:spPr>
          <a:xfrm>
            <a:off x="1005840" y="2834640"/>
            <a:ext cx="3108960" cy="365760"/>
          </a:xfrm>
          <a:prstGeom prst="rect">
            <a:avLst/>
          </a:prstGeom>
          <a:noFill/>
          <a:ln/>
        </p:spPr>
        <p:txBody>
          <a:bodyPr wrap="square" lIns="0" tIns="0" rIns="0" bIns="0" rtlCol="0" anchor="ctr"/>
          <a:lstStyle/>
          <a:p>
            <a:pPr indent="0" marL="0">
              <a:buNone/>
            </a:pPr>
            <a:r>
              <a:rPr lang="en-US" sz="1800" b="1" dirty="0">
                <a:solidFill>
                  <a:srgbClr val="FFFFFF"/>
                </a:solidFill>
              </a:rPr>
              <a:t>Valid Topology</a:t>
            </a:r>
            <a:endParaRPr lang="en-US" sz="1800" dirty="0"/>
          </a:p>
        </p:txBody>
      </p:sp>
      <p:sp>
        <p:nvSpPr>
          <p:cNvPr id="15" name="Text 13"/>
          <p:cNvSpPr/>
          <p:nvPr/>
        </p:nvSpPr>
        <p:spPr>
          <a:xfrm>
            <a:off x="1005840" y="3246120"/>
            <a:ext cx="3108960" cy="320040"/>
          </a:xfrm>
          <a:prstGeom prst="rect">
            <a:avLst/>
          </a:prstGeom>
          <a:noFill/>
          <a:ln/>
        </p:spPr>
        <p:txBody>
          <a:bodyPr wrap="square" lIns="0" tIns="0" rIns="0" bIns="0" rtlCol="0" anchor="ctr"/>
          <a:lstStyle/>
          <a:p>
            <a:pPr indent="0" marL="0">
              <a:buNone/>
            </a:pPr>
            <a:r>
              <a:rPr lang="en-US" sz="1400" dirty="0">
                <a:solidFill>
                  <a:srgbClr val="CADCFC"/>
                </a:solidFill>
              </a:rPr>
              <a:t>Robust intersection checks</a:t>
            </a:r>
            <a:endParaRPr lang="en-US" sz="1400" dirty="0"/>
          </a:p>
        </p:txBody>
      </p:sp>
      <p:sp>
        <p:nvSpPr>
          <p:cNvPr id="16" name="Shape 14"/>
          <p:cNvSpPr/>
          <p:nvPr/>
        </p:nvSpPr>
        <p:spPr>
          <a:xfrm>
            <a:off x="4754880" y="2651760"/>
            <a:ext cx="3657600" cy="1097280"/>
          </a:xfrm>
          <a:prstGeom prst="rect">
            <a:avLst/>
          </a:prstGeom>
          <a:solidFill>
            <a:srgbClr val="253575"/>
          </a:solidFill>
          <a:ln/>
        </p:spPr>
      </p:sp>
      <p:sp>
        <p:nvSpPr>
          <p:cNvPr id="17" name="Shape 15"/>
          <p:cNvSpPr/>
          <p:nvPr/>
        </p:nvSpPr>
        <p:spPr>
          <a:xfrm>
            <a:off x="4754880" y="2651760"/>
            <a:ext cx="64008" cy="1097280"/>
          </a:xfrm>
          <a:prstGeom prst="rect">
            <a:avLst/>
          </a:prstGeom>
          <a:solidFill>
            <a:srgbClr val="3B82F6"/>
          </a:solidFill>
          <a:ln/>
        </p:spPr>
      </p:sp>
      <p:sp>
        <p:nvSpPr>
          <p:cNvPr id="18" name="Text 16"/>
          <p:cNvSpPr/>
          <p:nvPr/>
        </p:nvSpPr>
        <p:spPr>
          <a:xfrm>
            <a:off x="5029200" y="2834640"/>
            <a:ext cx="3108960" cy="365760"/>
          </a:xfrm>
          <a:prstGeom prst="rect">
            <a:avLst/>
          </a:prstGeom>
          <a:noFill/>
          <a:ln/>
        </p:spPr>
        <p:txBody>
          <a:bodyPr wrap="square" lIns="0" tIns="0" rIns="0" bIns="0" rtlCol="0" anchor="ctr"/>
          <a:lstStyle/>
          <a:p>
            <a:pPr indent="0" marL="0">
              <a:buNone/>
            </a:pPr>
            <a:r>
              <a:rPr lang="en-US" sz="1800" b="1" dirty="0">
                <a:solidFill>
                  <a:srgbClr val="FFFFFF"/>
                </a:solidFill>
              </a:rPr>
              <a:t>15/15 Tests Pass</a:t>
            </a:r>
            <a:endParaRPr lang="en-US" sz="1800" dirty="0"/>
          </a:p>
        </p:txBody>
      </p:sp>
      <p:sp>
        <p:nvSpPr>
          <p:cNvPr id="19" name="Text 17"/>
          <p:cNvSpPr/>
          <p:nvPr/>
        </p:nvSpPr>
        <p:spPr>
          <a:xfrm>
            <a:off x="5029200" y="3246120"/>
            <a:ext cx="3108960" cy="320040"/>
          </a:xfrm>
          <a:prstGeom prst="rect">
            <a:avLst/>
          </a:prstGeom>
          <a:noFill/>
          <a:ln/>
        </p:spPr>
        <p:txBody>
          <a:bodyPr wrap="square" lIns="0" tIns="0" rIns="0" bIns="0" rtlCol="0" anchor="ctr"/>
          <a:lstStyle/>
          <a:p>
            <a:pPr indent="0" marL="0">
              <a:buNone/>
            </a:pPr>
            <a:r>
              <a:rPr lang="en-US" sz="1400" dirty="0">
                <a:solidFill>
                  <a:srgbClr val="CADCFC"/>
                </a:solidFill>
              </a:rPr>
              <a:t>All reference cases correct</a:t>
            </a:r>
            <a:endParaRPr lang="en-US" sz="1400" dirty="0"/>
          </a:p>
        </p:txBody>
      </p:sp>
      <p:sp>
        <p:nvSpPr>
          <p:cNvPr id="20" name="Shape 18"/>
          <p:cNvSpPr/>
          <p:nvPr/>
        </p:nvSpPr>
        <p:spPr>
          <a:xfrm>
            <a:off x="731520" y="4114800"/>
            <a:ext cx="7680960" cy="731520"/>
          </a:xfrm>
          <a:prstGeom prst="rect">
            <a:avLst/>
          </a:prstGeom>
          <a:solidFill>
            <a:srgbClr val="3B82F6"/>
          </a:solidFill>
          <a:ln/>
        </p:spPr>
      </p:sp>
      <p:sp>
        <p:nvSpPr>
          <p:cNvPr id="21" name="Text 19"/>
          <p:cNvSpPr/>
          <p:nvPr/>
        </p:nvSpPr>
        <p:spPr>
          <a:xfrm>
            <a:off x="914400" y="4160520"/>
            <a:ext cx="7315200" cy="640080"/>
          </a:xfrm>
          <a:prstGeom prst="rect">
            <a:avLst/>
          </a:prstGeom>
          <a:noFill/>
          <a:ln/>
        </p:spPr>
        <p:txBody>
          <a:bodyPr wrap="square" lIns="0" tIns="0" rIns="0" bIns="0" rtlCol="0" anchor="ctr"/>
          <a:lstStyle/>
          <a:p>
            <a:pPr algn="ctr" indent="0" marL="0">
              <a:buNone/>
            </a:pPr>
            <a:r>
              <a:rPr lang="en-US" sz="2000" b="1" dirty="0">
                <a:solidFill>
                  <a:srgbClr val="FFFFFF"/>
                </a:solidFill>
              </a:rPr>
              <a:t>12,800 vertices simplified in 21 ms using 7.8 MiB of memory</a:t>
            </a:r>
            <a:endParaRPr lang="en-US" sz="2000" dirty="0"/>
          </a:p>
        </p:txBody>
      </p:sp>
      <p:sp>
        <p:nvSpPr>
          <p:cNvPr id="22" name="Shape 20"/>
          <p:cNvSpPr/>
          <p:nvPr/>
        </p:nvSpPr>
        <p:spPr>
          <a:xfrm>
            <a:off x="0" y="5088636"/>
            <a:ext cx="9144000" cy="54864"/>
          </a:xfrm>
          <a:prstGeom prst="rect">
            <a:avLst/>
          </a:prstGeom>
          <a:solidFill>
            <a:srgbClr val="3B82F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Area- and Topology-Preserving Polygon Simplification</dc:title>
  <dc:subject>PptxGenJS Presentation</dc:subject>
  <dc:creator>Isaac</dc:creator>
  <cp:lastModifiedBy>Isaac</cp:lastModifiedBy>
  <cp:revision>1</cp:revision>
  <dcterms:created xsi:type="dcterms:W3CDTF">2026-04-03T09:44:20Z</dcterms:created>
  <dcterms:modified xsi:type="dcterms:W3CDTF">2026-04-03T09:44:20Z</dcterms:modified>
</cp:coreProperties>
</file>